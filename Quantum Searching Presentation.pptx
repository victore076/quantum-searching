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10287000" cx="18288000"/>
  <p:notesSz cx="6858000" cy="9144000"/>
  <p:embeddedFontLst>
    <p:embeddedFont>
      <p:font typeface="Russo One"/>
      <p:regular r:id="rId19"/>
    </p:embeddedFont>
    <p:embeddedFont>
      <p:font typeface="Nunito Sans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4" roundtripDataSignature="AMtx7mgJVy/qEVjenXRg+p1RCKk9QqBao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unitoSans-regular.fntdata"/><Relationship Id="rId11" Type="http://schemas.openxmlformats.org/officeDocument/2006/relationships/slide" Target="slides/slide6.xml"/><Relationship Id="rId22" Type="http://schemas.openxmlformats.org/officeDocument/2006/relationships/font" Target="fonts/NunitoSans-italic.fntdata"/><Relationship Id="rId10" Type="http://schemas.openxmlformats.org/officeDocument/2006/relationships/slide" Target="slides/slide5.xml"/><Relationship Id="rId21" Type="http://schemas.openxmlformats.org/officeDocument/2006/relationships/font" Target="fonts/NunitoSans-bold.fntdata"/><Relationship Id="rId13" Type="http://schemas.openxmlformats.org/officeDocument/2006/relationships/slide" Target="slides/slide8.xml"/><Relationship Id="rId24" Type="http://customschemas.google.com/relationships/presentationmetadata" Target="metadata"/><Relationship Id="rId12" Type="http://schemas.openxmlformats.org/officeDocument/2006/relationships/slide" Target="slides/slide7.xml"/><Relationship Id="rId23" Type="http://schemas.openxmlformats.org/officeDocument/2006/relationships/font" Target="fonts/NunitoSans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RussoOne-regular.fnt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8" name="Google Shape;11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1" name="Google Shape;151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4c237182a4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3" name="Google Shape;193;g34c237182a4_0_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4c237182a4_0_12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9" name="Google Shape;229;g34c237182a4_0_12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4c237182a4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8" name="Google Shape;278;g34c237182a4_0_7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4c237182a4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3" name="Google Shape;323;g34c237182a4_0_1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4c237182a4_0_13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9" name="Google Shape;369;g34c237182a4_0_13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34c237182a4_0_14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8" name="Google Shape;418;g34c237182a4_0_146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34c237182a4_0_15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45" name="Google Shape;445;g34c237182a4_0_155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34c237182a4_0_15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93" name="Google Shape;493;g34c237182a4_0_15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48782a9c8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30" name="Google Shape;530;g348782a9c86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g348782a9c86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62" name="Google Shape;562;g348782a9c86_0_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3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3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3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3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3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3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3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9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9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3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0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4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4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4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1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1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4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4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4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3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5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2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10" Type="http://schemas.openxmlformats.org/officeDocument/2006/relationships/image" Target="../media/image14.png"/><Relationship Id="rId9" Type="http://schemas.openxmlformats.org/officeDocument/2006/relationships/image" Target="../media/image16.jpg"/><Relationship Id="rId5" Type="http://schemas.openxmlformats.org/officeDocument/2006/relationships/image" Target="../media/image8.png"/><Relationship Id="rId6" Type="http://schemas.openxmlformats.org/officeDocument/2006/relationships/image" Target="../media/image17.png"/><Relationship Id="rId7" Type="http://schemas.openxmlformats.org/officeDocument/2006/relationships/image" Target="../media/image20.png"/><Relationship Id="rId8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13.png"/><Relationship Id="rId6" Type="http://schemas.openxmlformats.org/officeDocument/2006/relationships/image" Target="../media/image19.gif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18.png"/><Relationship Id="rId6" Type="http://schemas.openxmlformats.org/officeDocument/2006/relationships/image" Target="../media/image2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2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EC0F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"/>
          <p:cNvGrpSpPr/>
          <p:nvPr/>
        </p:nvGrpSpPr>
        <p:grpSpPr>
          <a:xfrm>
            <a:off x="0" y="0"/>
            <a:ext cx="11456167" cy="6487979"/>
            <a:chOff x="0" y="0"/>
            <a:chExt cx="3017262" cy="1708768"/>
          </a:xfrm>
        </p:grpSpPr>
        <p:sp>
          <p:nvSpPr>
            <p:cNvPr id="85" name="Google Shape;85;p1"/>
            <p:cNvSpPr/>
            <p:nvPr/>
          </p:nvSpPr>
          <p:spPr>
            <a:xfrm>
              <a:off x="0" y="0"/>
              <a:ext cx="3017262" cy="1708768"/>
            </a:xfrm>
            <a:custGeom>
              <a:rect b="b" l="l" r="r" t="t"/>
              <a:pathLst>
                <a:path extrusionOk="0" h="1708768" w="3017262">
                  <a:moveTo>
                    <a:pt x="0" y="0"/>
                  </a:moveTo>
                  <a:lnTo>
                    <a:pt x="3017262" y="0"/>
                  </a:lnTo>
                  <a:lnTo>
                    <a:pt x="3017262" y="1708768"/>
                  </a:lnTo>
                  <a:lnTo>
                    <a:pt x="0" y="1708768"/>
                  </a:lnTo>
                  <a:close/>
                </a:path>
              </a:pathLst>
            </a:custGeom>
            <a:solidFill>
              <a:srgbClr val="7D2AE8"/>
            </a:solidFill>
            <a:ln>
              <a:noFill/>
            </a:ln>
          </p:spPr>
        </p:sp>
        <p:sp>
          <p:nvSpPr>
            <p:cNvPr id="86" name="Google Shape;86;p1"/>
            <p:cNvSpPr txBox="1"/>
            <p:nvPr/>
          </p:nvSpPr>
          <p:spPr>
            <a:xfrm>
              <a:off x="0" y="0"/>
              <a:ext cx="812800" cy="81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971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7" name="Google Shape;87;p1"/>
          <p:cNvGrpSpPr/>
          <p:nvPr/>
        </p:nvGrpSpPr>
        <p:grpSpPr>
          <a:xfrm>
            <a:off x="11800021" y="0"/>
            <a:ext cx="6487979" cy="6487979"/>
            <a:chOff x="0" y="0"/>
            <a:chExt cx="812800" cy="812800"/>
          </a:xfrm>
        </p:grpSpPr>
        <p:sp>
          <p:nvSpPr>
            <p:cNvPr id="88" name="Google Shape;88;p1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40926"/>
            </a:solidFill>
            <a:ln>
              <a:noFill/>
            </a:ln>
          </p:spPr>
        </p:sp>
        <p:sp>
          <p:nvSpPr>
            <p:cNvPr id="89" name="Google Shape;89;p1"/>
            <p:cNvSpPr txBox="1"/>
            <p:nvPr/>
          </p:nvSpPr>
          <p:spPr>
            <a:xfrm>
              <a:off x="0" y="0"/>
              <a:ext cx="812800" cy="81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971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0" name="Google Shape;90;p1"/>
          <p:cNvGrpSpPr/>
          <p:nvPr/>
        </p:nvGrpSpPr>
        <p:grpSpPr>
          <a:xfrm>
            <a:off x="14945850" y="6957750"/>
            <a:ext cx="3342150" cy="3329250"/>
            <a:chOff x="0" y="0"/>
            <a:chExt cx="4456200" cy="4439000"/>
          </a:xfrm>
        </p:grpSpPr>
        <p:grpSp>
          <p:nvGrpSpPr>
            <p:cNvPr id="91" name="Google Shape;91;p1"/>
            <p:cNvGrpSpPr/>
            <p:nvPr/>
          </p:nvGrpSpPr>
          <p:grpSpPr>
            <a:xfrm>
              <a:off x="0" y="0"/>
              <a:ext cx="2228100" cy="2228100"/>
              <a:chOff x="0" y="0"/>
              <a:chExt cx="812800" cy="812800"/>
            </a:xfrm>
          </p:grpSpPr>
          <p:sp>
            <p:nvSpPr>
              <p:cNvPr id="92" name="Google Shape;92;p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040926"/>
              </a:solidFill>
              <a:ln>
                <a:noFill/>
              </a:ln>
            </p:spPr>
          </p:sp>
          <p:sp>
            <p:nvSpPr>
              <p:cNvPr id="93" name="Google Shape;93;p1"/>
              <p:cNvSpPr txBox="1"/>
              <p:nvPr/>
            </p:nvSpPr>
            <p:spPr>
              <a:xfrm>
                <a:off x="0" y="0"/>
                <a:ext cx="812800" cy="81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97111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4" name="Google Shape;94;p1"/>
            <p:cNvGrpSpPr/>
            <p:nvPr/>
          </p:nvGrpSpPr>
          <p:grpSpPr>
            <a:xfrm>
              <a:off x="2228100" y="2210900"/>
              <a:ext cx="2228100" cy="2228100"/>
              <a:chOff x="0" y="0"/>
              <a:chExt cx="812800" cy="812800"/>
            </a:xfrm>
          </p:grpSpPr>
          <p:sp>
            <p:nvSpPr>
              <p:cNvPr id="95" name="Google Shape;95;p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040926"/>
              </a:solidFill>
              <a:ln>
                <a:noFill/>
              </a:ln>
            </p:spPr>
          </p:sp>
          <p:sp>
            <p:nvSpPr>
              <p:cNvPr id="96" name="Google Shape;96;p1"/>
              <p:cNvSpPr txBox="1"/>
              <p:nvPr/>
            </p:nvSpPr>
            <p:spPr>
              <a:xfrm>
                <a:off x="0" y="0"/>
                <a:ext cx="812800" cy="81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97111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7" name="Google Shape;97;p1"/>
            <p:cNvGrpSpPr/>
            <p:nvPr/>
          </p:nvGrpSpPr>
          <p:grpSpPr>
            <a:xfrm>
              <a:off x="2228100" y="0"/>
              <a:ext cx="2228100" cy="2228100"/>
              <a:chOff x="0" y="0"/>
              <a:chExt cx="812800" cy="812800"/>
            </a:xfrm>
          </p:grpSpPr>
          <p:sp>
            <p:nvSpPr>
              <p:cNvPr id="98" name="Google Shape;98;p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7D2AE8"/>
              </a:solidFill>
              <a:ln>
                <a:noFill/>
              </a:ln>
            </p:spPr>
          </p:sp>
          <p:sp>
            <p:nvSpPr>
              <p:cNvPr id="99" name="Google Shape;99;p1"/>
              <p:cNvSpPr txBox="1"/>
              <p:nvPr/>
            </p:nvSpPr>
            <p:spPr>
              <a:xfrm>
                <a:off x="0" y="0"/>
                <a:ext cx="812800" cy="81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97111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0" name="Google Shape;100;p1"/>
            <p:cNvGrpSpPr/>
            <p:nvPr/>
          </p:nvGrpSpPr>
          <p:grpSpPr>
            <a:xfrm>
              <a:off x="0" y="2210900"/>
              <a:ext cx="2228100" cy="2228100"/>
              <a:chOff x="0" y="0"/>
              <a:chExt cx="812800" cy="812800"/>
            </a:xfrm>
          </p:grpSpPr>
          <p:sp>
            <p:nvSpPr>
              <p:cNvPr id="101" name="Google Shape;101;p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7D2AE8"/>
              </a:solidFill>
              <a:ln>
                <a:noFill/>
              </a:ln>
            </p:spPr>
          </p:sp>
          <p:sp>
            <p:nvSpPr>
              <p:cNvPr id="102" name="Google Shape;102;p1"/>
              <p:cNvSpPr txBox="1"/>
              <p:nvPr/>
            </p:nvSpPr>
            <p:spPr>
              <a:xfrm>
                <a:off x="0" y="0"/>
                <a:ext cx="812800" cy="81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97111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03" name="Google Shape;103;p1"/>
          <p:cNvGrpSpPr/>
          <p:nvPr/>
        </p:nvGrpSpPr>
        <p:grpSpPr>
          <a:xfrm>
            <a:off x="11800021" y="6957750"/>
            <a:ext cx="3046615" cy="3614096"/>
            <a:chOff x="0" y="0"/>
            <a:chExt cx="685176" cy="812800"/>
          </a:xfrm>
        </p:grpSpPr>
        <p:sp>
          <p:nvSpPr>
            <p:cNvPr id="104" name="Google Shape;104;p1"/>
            <p:cNvSpPr/>
            <p:nvPr/>
          </p:nvSpPr>
          <p:spPr>
            <a:xfrm>
              <a:off x="0" y="0"/>
              <a:ext cx="685176" cy="748740"/>
            </a:xfrm>
            <a:custGeom>
              <a:rect b="b" l="l" r="r" t="t"/>
              <a:pathLst>
                <a:path extrusionOk="0" h="748740" w="685176">
                  <a:moveTo>
                    <a:pt x="228515" y="19070"/>
                  </a:moveTo>
                  <a:cubicBezTo>
                    <a:pt x="263529" y="7556"/>
                    <a:pt x="303578" y="0"/>
                    <a:pt x="342772" y="0"/>
                  </a:cubicBezTo>
                  <a:cubicBezTo>
                    <a:pt x="381968" y="0"/>
                    <a:pt x="419685" y="6476"/>
                    <a:pt x="454441" y="17990"/>
                  </a:cubicBezTo>
                  <a:cubicBezTo>
                    <a:pt x="455182" y="18350"/>
                    <a:pt x="455921" y="18350"/>
                    <a:pt x="456660" y="18710"/>
                  </a:cubicBezTo>
                  <a:cubicBezTo>
                    <a:pt x="587188" y="64765"/>
                    <a:pt x="683327" y="186379"/>
                    <a:pt x="685176" y="327079"/>
                  </a:cubicBezTo>
                  <a:lnTo>
                    <a:pt x="685176" y="748740"/>
                  </a:lnTo>
                  <a:lnTo>
                    <a:pt x="0" y="748740"/>
                  </a:lnTo>
                  <a:lnTo>
                    <a:pt x="0" y="327392"/>
                  </a:lnTo>
                  <a:cubicBezTo>
                    <a:pt x="1849" y="185660"/>
                    <a:pt x="96509" y="64045"/>
                    <a:pt x="228515" y="19070"/>
                  </a:cubicBezTo>
                  <a:close/>
                </a:path>
              </a:pathLst>
            </a:custGeom>
            <a:solidFill>
              <a:srgbClr val="0409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1"/>
            <p:cNvSpPr txBox="1"/>
            <p:nvPr/>
          </p:nvSpPr>
          <p:spPr>
            <a:xfrm>
              <a:off x="0" y="127000"/>
              <a:ext cx="6604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971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6" name="Google Shape;106;p1"/>
          <p:cNvGrpSpPr/>
          <p:nvPr/>
        </p:nvGrpSpPr>
        <p:grpSpPr>
          <a:xfrm>
            <a:off x="11800021" y="0"/>
            <a:ext cx="6487979" cy="6487979"/>
            <a:chOff x="0" y="0"/>
            <a:chExt cx="812800" cy="812800"/>
          </a:xfrm>
        </p:grpSpPr>
        <p:sp>
          <p:nvSpPr>
            <p:cNvPr id="107" name="Google Shape;107;p1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lnTo>
                    <a:pt x="540616" y="82374"/>
                  </a:lnTo>
                  <a:lnTo>
                    <a:pt x="693768" y="119032"/>
                  </a:lnTo>
                  <a:lnTo>
                    <a:pt x="730427" y="272184"/>
                  </a:lnTo>
                  <a:lnTo>
                    <a:pt x="812800" y="406400"/>
                  </a:lnTo>
                  <a:lnTo>
                    <a:pt x="730427" y="540616"/>
                  </a:lnTo>
                  <a:lnTo>
                    <a:pt x="693768" y="693768"/>
                  </a:lnTo>
                  <a:lnTo>
                    <a:pt x="540616" y="730427"/>
                  </a:lnTo>
                  <a:lnTo>
                    <a:pt x="406400" y="812800"/>
                  </a:lnTo>
                  <a:lnTo>
                    <a:pt x="272184" y="730427"/>
                  </a:lnTo>
                  <a:lnTo>
                    <a:pt x="119032" y="693768"/>
                  </a:lnTo>
                  <a:lnTo>
                    <a:pt x="82374" y="540616"/>
                  </a:lnTo>
                  <a:lnTo>
                    <a:pt x="0" y="406400"/>
                  </a:lnTo>
                  <a:lnTo>
                    <a:pt x="82374" y="272184"/>
                  </a:lnTo>
                  <a:lnTo>
                    <a:pt x="119032" y="119032"/>
                  </a:lnTo>
                  <a:lnTo>
                    <a:pt x="272184" y="82374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7D2AE8"/>
            </a:solidFill>
            <a:ln>
              <a:noFill/>
            </a:ln>
          </p:spPr>
        </p:sp>
        <p:sp>
          <p:nvSpPr>
            <p:cNvPr id="108" name="Google Shape;108;p1"/>
            <p:cNvSpPr txBox="1"/>
            <p:nvPr/>
          </p:nvSpPr>
          <p:spPr>
            <a:xfrm>
              <a:off x="139700" y="139700"/>
              <a:ext cx="5334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971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09" name="Google Shape;10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775346" y="7102164"/>
            <a:ext cx="1260550" cy="14595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077561" y="8756474"/>
            <a:ext cx="1435725" cy="1435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781191" y="1638127"/>
            <a:ext cx="2592739" cy="3211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501465" y="706965"/>
            <a:ext cx="5074049" cy="5074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2234142" y="7516199"/>
            <a:ext cx="2178373" cy="24805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-485606" y="782437"/>
            <a:ext cx="4923105" cy="4923105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"/>
          <p:cNvSpPr txBox="1"/>
          <p:nvPr/>
        </p:nvSpPr>
        <p:spPr>
          <a:xfrm>
            <a:off x="629457" y="6957750"/>
            <a:ext cx="9438900" cy="30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99"/>
              <a:buFont typeface="Arial"/>
              <a:buNone/>
            </a:pPr>
            <a:r>
              <a:rPr lang="en-US" sz="9999">
                <a:solidFill>
                  <a:srgbClr val="040926"/>
                </a:solidFill>
                <a:latin typeface="Russo One"/>
                <a:ea typeface="Russo One"/>
                <a:cs typeface="Russo One"/>
                <a:sym typeface="Russo One"/>
              </a:rPr>
              <a:t>Quantum Searching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EC0F1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" name="Google Shape;120;p3"/>
          <p:cNvGrpSpPr/>
          <p:nvPr/>
        </p:nvGrpSpPr>
        <p:grpSpPr>
          <a:xfrm>
            <a:off x="10910894" y="-108496"/>
            <a:ext cx="7377102" cy="10395496"/>
            <a:chOff x="0" y="-28575"/>
            <a:chExt cx="1942941" cy="2737908"/>
          </a:xfrm>
        </p:grpSpPr>
        <p:sp>
          <p:nvSpPr>
            <p:cNvPr id="121" name="Google Shape;121;p3"/>
            <p:cNvSpPr/>
            <p:nvPr/>
          </p:nvSpPr>
          <p:spPr>
            <a:xfrm>
              <a:off x="0" y="0"/>
              <a:ext cx="1942941" cy="2709333"/>
            </a:xfrm>
            <a:custGeom>
              <a:rect b="b" l="l" r="r" t="t"/>
              <a:pathLst>
                <a:path extrusionOk="0" h="2709333" w="1942941">
                  <a:moveTo>
                    <a:pt x="0" y="0"/>
                  </a:moveTo>
                  <a:lnTo>
                    <a:pt x="1942941" y="0"/>
                  </a:lnTo>
                  <a:lnTo>
                    <a:pt x="194294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40926"/>
            </a:solidFill>
            <a:ln>
              <a:noFill/>
            </a:ln>
          </p:spPr>
        </p:sp>
        <p:sp>
          <p:nvSpPr>
            <p:cNvPr id="122" name="Google Shape;122;p3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05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23" name="Google Shape;12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753650" y="282250"/>
            <a:ext cx="10180603" cy="1018060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4" name="Google Shape;124;p3"/>
          <p:cNvGrpSpPr/>
          <p:nvPr/>
        </p:nvGrpSpPr>
        <p:grpSpPr>
          <a:xfrm>
            <a:off x="658660" y="2593696"/>
            <a:ext cx="493370" cy="510715"/>
            <a:chOff x="0" y="-28575"/>
            <a:chExt cx="812800" cy="841375"/>
          </a:xfrm>
        </p:grpSpPr>
        <p:sp>
          <p:nvSpPr>
            <p:cNvPr id="125" name="Google Shape;125;p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7D2AE8"/>
            </a:solidFill>
            <a:ln>
              <a:noFill/>
            </a:ln>
          </p:spPr>
        </p:sp>
        <p:sp>
          <p:nvSpPr>
            <p:cNvPr id="126" name="Google Shape;126;p3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05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7" name="Google Shape;127;p3"/>
          <p:cNvSpPr txBox="1"/>
          <p:nvPr/>
        </p:nvSpPr>
        <p:spPr>
          <a:xfrm>
            <a:off x="658660" y="585051"/>
            <a:ext cx="9760500" cy="16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36"/>
              <a:buFont typeface="Arial"/>
              <a:buNone/>
            </a:pPr>
            <a:r>
              <a:rPr lang="en-US" sz="11036">
                <a:solidFill>
                  <a:srgbClr val="040926"/>
                </a:solidFill>
                <a:latin typeface="Russo One"/>
                <a:ea typeface="Russo One"/>
                <a:cs typeface="Russo One"/>
                <a:sym typeface="Russo One"/>
              </a:rPr>
              <a:t>Capitole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3"/>
          <p:cNvSpPr txBox="1"/>
          <p:nvPr/>
        </p:nvSpPr>
        <p:spPr>
          <a:xfrm>
            <a:off x="1515695" y="2555864"/>
            <a:ext cx="91566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lang="en-US" sz="4500">
                <a:solidFill>
                  <a:srgbClr val="040926"/>
                </a:solidFill>
                <a:latin typeface="Nunito Sans"/>
                <a:ea typeface="Nunito Sans"/>
                <a:cs typeface="Nunito Sans"/>
                <a:sym typeface="Nunito Sans"/>
              </a:rPr>
              <a:t>Introducere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9" name="Google Shape;129;p3"/>
          <p:cNvGrpSpPr/>
          <p:nvPr/>
        </p:nvGrpSpPr>
        <p:grpSpPr>
          <a:xfrm>
            <a:off x="658660" y="3634192"/>
            <a:ext cx="493370" cy="510715"/>
            <a:chOff x="0" y="-28575"/>
            <a:chExt cx="812800" cy="841375"/>
          </a:xfrm>
        </p:grpSpPr>
        <p:sp>
          <p:nvSpPr>
            <p:cNvPr id="130" name="Google Shape;130;p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40926"/>
            </a:solidFill>
            <a:ln>
              <a:noFill/>
            </a:ln>
          </p:spPr>
        </p:sp>
        <p:sp>
          <p:nvSpPr>
            <p:cNvPr id="131" name="Google Shape;131;p3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05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2" name="Google Shape;132;p3"/>
          <p:cNvSpPr txBox="1"/>
          <p:nvPr/>
        </p:nvSpPr>
        <p:spPr>
          <a:xfrm>
            <a:off x="1515695" y="3596360"/>
            <a:ext cx="91566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lang="en-US" sz="4500">
                <a:solidFill>
                  <a:srgbClr val="040926"/>
                </a:solidFill>
                <a:latin typeface="Nunito Sans"/>
                <a:ea typeface="Nunito Sans"/>
                <a:cs typeface="Nunito Sans"/>
                <a:sym typeface="Nunito Sans"/>
              </a:rPr>
              <a:t>Complexitatea Algoritmului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3" name="Google Shape;133;p3"/>
          <p:cNvGrpSpPr/>
          <p:nvPr/>
        </p:nvGrpSpPr>
        <p:grpSpPr>
          <a:xfrm>
            <a:off x="658660" y="4674688"/>
            <a:ext cx="493370" cy="510715"/>
            <a:chOff x="0" y="-28575"/>
            <a:chExt cx="812800" cy="841375"/>
          </a:xfrm>
        </p:grpSpPr>
        <p:sp>
          <p:nvSpPr>
            <p:cNvPr id="134" name="Google Shape;134;p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7D2AE8"/>
            </a:solidFill>
            <a:ln>
              <a:noFill/>
            </a:ln>
          </p:spPr>
        </p:sp>
        <p:sp>
          <p:nvSpPr>
            <p:cNvPr id="135" name="Google Shape;135;p3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05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6" name="Google Shape;136;p3"/>
          <p:cNvSpPr txBox="1"/>
          <p:nvPr/>
        </p:nvSpPr>
        <p:spPr>
          <a:xfrm>
            <a:off x="1515695" y="4636857"/>
            <a:ext cx="91566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lang="en-US" sz="4500">
                <a:solidFill>
                  <a:srgbClr val="040926"/>
                </a:solidFill>
                <a:latin typeface="Nunito Sans"/>
                <a:ea typeface="Nunito Sans"/>
                <a:cs typeface="Nunito Sans"/>
                <a:sym typeface="Nunito Sans"/>
              </a:rPr>
              <a:t>Funcționarea Algoritmului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7" name="Google Shape;137;p3"/>
          <p:cNvGrpSpPr/>
          <p:nvPr/>
        </p:nvGrpSpPr>
        <p:grpSpPr>
          <a:xfrm>
            <a:off x="658660" y="5715185"/>
            <a:ext cx="493370" cy="510715"/>
            <a:chOff x="0" y="-28575"/>
            <a:chExt cx="812800" cy="841375"/>
          </a:xfrm>
        </p:grpSpPr>
        <p:sp>
          <p:nvSpPr>
            <p:cNvPr id="138" name="Google Shape;138;p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40926"/>
            </a:solidFill>
            <a:ln>
              <a:noFill/>
            </a:ln>
          </p:spPr>
        </p:sp>
        <p:sp>
          <p:nvSpPr>
            <p:cNvPr id="139" name="Google Shape;139;p3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05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0" name="Google Shape;140;p3"/>
          <p:cNvSpPr txBox="1"/>
          <p:nvPr/>
        </p:nvSpPr>
        <p:spPr>
          <a:xfrm>
            <a:off x="1515695" y="5677353"/>
            <a:ext cx="91566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lang="en-US" sz="4500">
                <a:solidFill>
                  <a:srgbClr val="040926"/>
                </a:solidFill>
                <a:latin typeface="Nunito Sans"/>
                <a:ea typeface="Nunito Sans"/>
                <a:cs typeface="Nunito Sans"/>
                <a:sym typeface="Nunito Sans"/>
              </a:rPr>
              <a:t>Demonstrație Vizuală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1" name="Google Shape;141;p3"/>
          <p:cNvGrpSpPr/>
          <p:nvPr/>
        </p:nvGrpSpPr>
        <p:grpSpPr>
          <a:xfrm>
            <a:off x="658660" y="6755681"/>
            <a:ext cx="493370" cy="510715"/>
            <a:chOff x="0" y="-28575"/>
            <a:chExt cx="812800" cy="841375"/>
          </a:xfrm>
        </p:grpSpPr>
        <p:sp>
          <p:nvSpPr>
            <p:cNvPr id="142" name="Google Shape;142;p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7D2AE8"/>
            </a:solidFill>
            <a:ln>
              <a:noFill/>
            </a:ln>
          </p:spPr>
        </p:sp>
        <p:sp>
          <p:nvSpPr>
            <p:cNvPr id="143" name="Google Shape;143;p3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05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4" name="Google Shape;144;p3"/>
          <p:cNvSpPr txBox="1"/>
          <p:nvPr/>
        </p:nvSpPr>
        <p:spPr>
          <a:xfrm>
            <a:off x="1515695" y="6717849"/>
            <a:ext cx="91566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lang="en-US" sz="4500">
                <a:solidFill>
                  <a:srgbClr val="040926"/>
                </a:solidFill>
                <a:latin typeface="Nunito Sans"/>
                <a:ea typeface="Nunito Sans"/>
                <a:cs typeface="Nunito Sans"/>
                <a:sym typeface="Nunito Sans"/>
              </a:rPr>
              <a:t>Implementare Practică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5" name="Google Shape;145;p3"/>
          <p:cNvGrpSpPr/>
          <p:nvPr/>
        </p:nvGrpSpPr>
        <p:grpSpPr>
          <a:xfrm>
            <a:off x="658660" y="7834010"/>
            <a:ext cx="493370" cy="510790"/>
            <a:chOff x="0" y="-28575"/>
            <a:chExt cx="812800" cy="841500"/>
          </a:xfrm>
        </p:grpSpPr>
        <p:sp>
          <p:nvSpPr>
            <p:cNvPr id="146" name="Google Shape;146;p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40926"/>
            </a:solidFill>
            <a:ln>
              <a:noFill/>
            </a:ln>
          </p:spPr>
        </p:sp>
        <p:sp>
          <p:nvSpPr>
            <p:cNvPr id="147" name="Google Shape;147;p3"/>
            <p:cNvSpPr txBox="1"/>
            <p:nvPr/>
          </p:nvSpPr>
          <p:spPr>
            <a:xfrm>
              <a:off x="0" y="-28575"/>
              <a:ext cx="812700" cy="84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05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8" name="Google Shape;148;p3"/>
          <p:cNvSpPr txBox="1"/>
          <p:nvPr/>
        </p:nvSpPr>
        <p:spPr>
          <a:xfrm>
            <a:off x="1515695" y="7796178"/>
            <a:ext cx="91566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lang="en-US" sz="4500">
                <a:solidFill>
                  <a:srgbClr val="040926"/>
                </a:solidFill>
                <a:latin typeface="Nunito Sans"/>
                <a:ea typeface="Nunito Sans"/>
                <a:cs typeface="Nunito Sans"/>
                <a:sym typeface="Nunito Sans"/>
              </a:rPr>
              <a:t>Concluzii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EC0F1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" name="Google Shape;153;p25"/>
          <p:cNvGrpSpPr/>
          <p:nvPr/>
        </p:nvGrpSpPr>
        <p:grpSpPr>
          <a:xfrm>
            <a:off x="15745701" y="1"/>
            <a:ext cx="2542312" cy="2520506"/>
            <a:chOff x="0" y="0"/>
            <a:chExt cx="6688534" cy="6662717"/>
          </a:xfrm>
        </p:grpSpPr>
        <p:grpSp>
          <p:nvGrpSpPr>
            <p:cNvPr id="154" name="Google Shape;154;p25"/>
            <p:cNvGrpSpPr/>
            <p:nvPr/>
          </p:nvGrpSpPr>
          <p:grpSpPr>
            <a:xfrm>
              <a:off x="0" y="0"/>
              <a:ext cx="3344267" cy="3344267"/>
              <a:chOff x="0" y="0"/>
              <a:chExt cx="812800" cy="812800"/>
            </a:xfrm>
          </p:grpSpPr>
          <p:sp>
            <p:nvSpPr>
              <p:cNvPr id="155" name="Google Shape;155;p2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040926"/>
              </a:solidFill>
              <a:ln>
                <a:noFill/>
              </a:ln>
            </p:spPr>
          </p:sp>
          <p:sp>
            <p:nvSpPr>
              <p:cNvPr id="156" name="Google Shape;156;p25"/>
              <p:cNvSpPr txBox="1"/>
              <p:nvPr/>
            </p:nvSpPr>
            <p:spPr>
              <a:xfrm>
                <a:off x="0" y="0"/>
                <a:ext cx="812800" cy="81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97111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7" name="Google Shape;157;p25"/>
            <p:cNvGrpSpPr/>
            <p:nvPr/>
          </p:nvGrpSpPr>
          <p:grpSpPr>
            <a:xfrm>
              <a:off x="3344267" y="3318450"/>
              <a:ext cx="3344267" cy="3344267"/>
              <a:chOff x="0" y="0"/>
              <a:chExt cx="812800" cy="812800"/>
            </a:xfrm>
          </p:grpSpPr>
          <p:sp>
            <p:nvSpPr>
              <p:cNvPr id="158" name="Google Shape;158;p2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040926"/>
              </a:solidFill>
              <a:ln>
                <a:noFill/>
              </a:ln>
            </p:spPr>
          </p:sp>
          <p:sp>
            <p:nvSpPr>
              <p:cNvPr id="159" name="Google Shape;159;p25"/>
              <p:cNvSpPr txBox="1"/>
              <p:nvPr/>
            </p:nvSpPr>
            <p:spPr>
              <a:xfrm>
                <a:off x="0" y="0"/>
                <a:ext cx="812800" cy="81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97111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0" name="Google Shape;160;p25"/>
            <p:cNvGrpSpPr/>
            <p:nvPr/>
          </p:nvGrpSpPr>
          <p:grpSpPr>
            <a:xfrm>
              <a:off x="3344267" y="0"/>
              <a:ext cx="3344267" cy="3344267"/>
              <a:chOff x="0" y="0"/>
              <a:chExt cx="812800" cy="812800"/>
            </a:xfrm>
          </p:grpSpPr>
          <p:sp>
            <p:nvSpPr>
              <p:cNvPr id="161" name="Google Shape;161;p2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7D2AE8"/>
              </a:solidFill>
              <a:ln>
                <a:noFill/>
              </a:ln>
            </p:spPr>
          </p:sp>
          <p:sp>
            <p:nvSpPr>
              <p:cNvPr id="162" name="Google Shape;162;p25"/>
              <p:cNvSpPr txBox="1"/>
              <p:nvPr/>
            </p:nvSpPr>
            <p:spPr>
              <a:xfrm>
                <a:off x="0" y="0"/>
                <a:ext cx="812800" cy="81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97111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3" name="Google Shape;163;p25"/>
            <p:cNvGrpSpPr/>
            <p:nvPr/>
          </p:nvGrpSpPr>
          <p:grpSpPr>
            <a:xfrm>
              <a:off x="0" y="3318450"/>
              <a:ext cx="3344267" cy="3344267"/>
              <a:chOff x="0" y="0"/>
              <a:chExt cx="812800" cy="812800"/>
            </a:xfrm>
          </p:grpSpPr>
          <p:sp>
            <p:nvSpPr>
              <p:cNvPr id="164" name="Google Shape;164;p2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7D2AE8"/>
              </a:solidFill>
              <a:ln>
                <a:noFill/>
              </a:ln>
            </p:spPr>
          </p:sp>
          <p:sp>
            <p:nvSpPr>
              <p:cNvPr id="165" name="Google Shape;165;p25"/>
              <p:cNvSpPr txBox="1"/>
              <p:nvPr/>
            </p:nvSpPr>
            <p:spPr>
              <a:xfrm>
                <a:off x="0" y="0"/>
                <a:ext cx="812800" cy="81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97111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id="166" name="Google Shape;16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147185" y="64500"/>
            <a:ext cx="987050" cy="1137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825141" y="1324949"/>
            <a:ext cx="1124220" cy="1118925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5"/>
          <p:cNvSpPr txBox="1"/>
          <p:nvPr/>
        </p:nvSpPr>
        <p:spPr>
          <a:xfrm>
            <a:off x="559983" y="8680450"/>
            <a:ext cx="11843345" cy="1127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DEC0F1"/>
                </a:solidFill>
                <a:latin typeface="Nunito Sans"/>
                <a:ea typeface="Nunito Sans"/>
                <a:cs typeface="Nunito Sans"/>
                <a:sym typeface="Nunito Sans"/>
              </a:rPr>
              <a:t>You can find these fonts online too.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DEC0F1"/>
                </a:solidFill>
                <a:latin typeface="Nunito Sans"/>
                <a:ea typeface="Nunito Sans"/>
                <a:cs typeface="Nunito Sans"/>
                <a:sym typeface="Nunito Sans"/>
              </a:rPr>
              <a:t>Happy designing!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9" name="Google Shape;169;p25"/>
          <p:cNvGrpSpPr/>
          <p:nvPr/>
        </p:nvGrpSpPr>
        <p:grpSpPr>
          <a:xfrm>
            <a:off x="-62" y="2520723"/>
            <a:ext cx="18288130" cy="7766289"/>
            <a:chOff x="-893" y="-28575"/>
            <a:chExt cx="3411710" cy="1344509"/>
          </a:xfrm>
        </p:grpSpPr>
        <p:sp>
          <p:nvSpPr>
            <p:cNvPr id="170" name="Google Shape;170;p25"/>
            <p:cNvSpPr/>
            <p:nvPr/>
          </p:nvSpPr>
          <p:spPr>
            <a:xfrm>
              <a:off x="-893" y="-9"/>
              <a:ext cx="3411710" cy="1315943"/>
            </a:xfrm>
            <a:custGeom>
              <a:rect b="b" l="l" r="r" t="t"/>
              <a:pathLst>
                <a:path extrusionOk="0" h="1315943" w="3411710">
                  <a:moveTo>
                    <a:pt x="0" y="0"/>
                  </a:moveTo>
                  <a:lnTo>
                    <a:pt x="3411710" y="0"/>
                  </a:lnTo>
                  <a:lnTo>
                    <a:pt x="3411710" y="1315943"/>
                  </a:lnTo>
                  <a:lnTo>
                    <a:pt x="0" y="1315943"/>
                  </a:lnTo>
                  <a:close/>
                </a:path>
              </a:pathLst>
            </a:custGeom>
            <a:solidFill>
              <a:srgbClr val="7D2AE8"/>
            </a:solidFill>
            <a:ln>
              <a:noFill/>
            </a:ln>
          </p:spPr>
        </p:sp>
        <p:sp>
          <p:nvSpPr>
            <p:cNvPr id="171" name="Google Shape;171;p25"/>
            <p:cNvSpPr txBox="1"/>
            <p:nvPr/>
          </p:nvSpPr>
          <p:spPr>
            <a:xfrm>
              <a:off x="0" y="-28575"/>
              <a:ext cx="812700" cy="84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05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2" name="Google Shape;172;p25"/>
          <p:cNvSpPr txBox="1"/>
          <p:nvPr/>
        </p:nvSpPr>
        <p:spPr>
          <a:xfrm>
            <a:off x="1333650" y="3231250"/>
            <a:ext cx="118434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n-US" sz="3500">
                <a:solidFill>
                  <a:srgbClr val="DEC0F1"/>
                </a:solidFill>
                <a:latin typeface="Nunito Sans"/>
                <a:ea typeface="Nunito Sans"/>
                <a:cs typeface="Nunito Sans"/>
                <a:sym typeface="Nunito Sans"/>
              </a:rPr>
              <a:t>Ce este Quantum Searching?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25"/>
          <p:cNvSpPr txBox="1"/>
          <p:nvPr/>
        </p:nvSpPr>
        <p:spPr>
          <a:xfrm>
            <a:off x="-604904" y="10978240"/>
            <a:ext cx="11843400" cy="14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69873" lvl="1" marL="539748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DEC0F1"/>
              </a:buClr>
              <a:buSzPts val="2499"/>
              <a:buFont typeface="Arial"/>
              <a:buChar char="•"/>
            </a:pPr>
            <a:r>
              <a:rPr b="0" i="0" lang="en-US" sz="2499" u="none" cap="none" strike="noStrike">
                <a:solidFill>
                  <a:srgbClr val="DEC0F1"/>
                </a:solidFill>
                <a:latin typeface="Nunito Sans"/>
                <a:ea typeface="Nunito Sans"/>
                <a:cs typeface="Nunito Sans"/>
                <a:sym typeface="Nunito Sans"/>
              </a:rPr>
              <a:t>Titles: Russo One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9873" lvl="1" marL="539748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DEC0F1"/>
              </a:buClr>
              <a:buSzPts val="2499"/>
              <a:buFont typeface="Arial"/>
              <a:buChar char="•"/>
            </a:pPr>
            <a:r>
              <a:rPr b="0" i="0" lang="en-US" sz="2499" u="none" cap="none" strike="noStrike">
                <a:solidFill>
                  <a:srgbClr val="DEC0F1"/>
                </a:solidFill>
                <a:latin typeface="Nunito Sans"/>
                <a:ea typeface="Nunito Sans"/>
                <a:cs typeface="Nunito Sans"/>
                <a:sym typeface="Nunito Sans"/>
              </a:rPr>
              <a:t>Headers: Nunito Sans Regular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9875" lvl="1" marL="53975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EC0F1"/>
              </a:buClr>
              <a:buSzPts val="2500"/>
              <a:buFont typeface="Arial"/>
              <a:buChar char="•"/>
            </a:pPr>
            <a:r>
              <a:rPr b="0" i="0" lang="en-US" sz="2500" u="none" cap="none" strike="noStrike">
                <a:solidFill>
                  <a:srgbClr val="DEC0F1"/>
                </a:solidFill>
                <a:latin typeface="Nunito Sans"/>
                <a:ea typeface="Nunito Sans"/>
                <a:cs typeface="Nunito Sans"/>
                <a:sym typeface="Nunito Sans"/>
              </a:rPr>
              <a:t>Body Copy: Nunito Sans Regular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25"/>
          <p:cNvSpPr txBox="1"/>
          <p:nvPr/>
        </p:nvSpPr>
        <p:spPr>
          <a:xfrm>
            <a:off x="559983" y="822119"/>
            <a:ext cx="10393500" cy="16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36"/>
              <a:buFont typeface="Arial"/>
              <a:buNone/>
            </a:pPr>
            <a:r>
              <a:rPr lang="en-US" sz="11036">
                <a:solidFill>
                  <a:srgbClr val="040926"/>
                </a:solidFill>
                <a:latin typeface="Russo One"/>
                <a:ea typeface="Russo One"/>
                <a:cs typeface="Russo One"/>
                <a:sym typeface="Russo One"/>
              </a:rPr>
              <a:t>Introducere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5" name="Google Shape;175;p25"/>
          <p:cNvGrpSpPr/>
          <p:nvPr/>
        </p:nvGrpSpPr>
        <p:grpSpPr>
          <a:xfrm>
            <a:off x="559975" y="3216302"/>
            <a:ext cx="549290" cy="568686"/>
            <a:chOff x="0" y="-28575"/>
            <a:chExt cx="812800" cy="841500"/>
          </a:xfrm>
        </p:grpSpPr>
        <p:sp>
          <p:nvSpPr>
            <p:cNvPr id="176" name="Google Shape;176;p25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40926"/>
            </a:solidFill>
            <a:ln>
              <a:noFill/>
            </a:ln>
          </p:spPr>
        </p:sp>
        <p:sp>
          <p:nvSpPr>
            <p:cNvPr id="177" name="Google Shape;177;p25"/>
            <p:cNvSpPr txBox="1"/>
            <p:nvPr/>
          </p:nvSpPr>
          <p:spPr>
            <a:xfrm>
              <a:off x="0" y="-28575"/>
              <a:ext cx="812700" cy="84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05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8" name="Google Shape;178;p25"/>
          <p:cNvGrpSpPr/>
          <p:nvPr/>
        </p:nvGrpSpPr>
        <p:grpSpPr>
          <a:xfrm>
            <a:off x="10155443" y="9238989"/>
            <a:ext cx="549290" cy="568686"/>
            <a:chOff x="0" y="-28575"/>
            <a:chExt cx="812800" cy="841500"/>
          </a:xfrm>
        </p:grpSpPr>
        <p:sp>
          <p:nvSpPr>
            <p:cNvPr id="179" name="Google Shape;179;p25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40926"/>
            </a:solidFill>
            <a:ln>
              <a:noFill/>
            </a:ln>
          </p:spPr>
        </p:sp>
        <p:sp>
          <p:nvSpPr>
            <p:cNvPr id="180" name="Google Shape;180;p25"/>
            <p:cNvSpPr txBox="1"/>
            <p:nvPr/>
          </p:nvSpPr>
          <p:spPr>
            <a:xfrm>
              <a:off x="0" y="-28575"/>
              <a:ext cx="812700" cy="84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05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1" name="Google Shape;181;p25"/>
          <p:cNvGrpSpPr/>
          <p:nvPr/>
        </p:nvGrpSpPr>
        <p:grpSpPr>
          <a:xfrm>
            <a:off x="11166886" y="9238989"/>
            <a:ext cx="549290" cy="568686"/>
            <a:chOff x="0" y="-28575"/>
            <a:chExt cx="812800" cy="841500"/>
          </a:xfrm>
        </p:grpSpPr>
        <p:sp>
          <p:nvSpPr>
            <p:cNvPr id="182" name="Google Shape;182;p25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40926"/>
            </a:solidFill>
            <a:ln>
              <a:noFill/>
            </a:ln>
          </p:spPr>
        </p:sp>
        <p:sp>
          <p:nvSpPr>
            <p:cNvPr id="183" name="Google Shape;183;p25"/>
            <p:cNvSpPr txBox="1"/>
            <p:nvPr/>
          </p:nvSpPr>
          <p:spPr>
            <a:xfrm>
              <a:off x="0" y="-28575"/>
              <a:ext cx="812700" cy="84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05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4" name="Google Shape;184;p25"/>
          <p:cNvSpPr txBox="1"/>
          <p:nvPr/>
        </p:nvSpPr>
        <p:spPr>
          <a:xfrm>
            <a:off x="559975" y="3784988"/>
            <a:ext cx="163320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DEC0F1"/>
              </a:buClr>
              <a:buSzPts val="2400"/>
              <a:buFont typeface="Nunito Sans"/>
              <a:buChar char="●"/>
            </a:pPr>
            <a:r>
              <a:rPr lang="en-US" sz="2400">
                <a:solidFill>
                  <a:srgbClr val="DEC0F1"/>
                </a:solidFill>
                <a:latin typeface="Nunito Sans"/>
                <a:ea typeface="Nunito Sans"/>
                <a:cs typeface="Nunito Sans"/>
                <a:sym typeface="Nunito Sans"/>
              </a:rPr>
              <a:t>Quantum Searching este o metodă de căutare bazată pe algoritmi cuantici care oferă un avantaj semnificativ față de căutarea clasică.</a:t>
            </a:r>
            <a:br>
              <a:rPr lang="en-US" sz="2400">
                <a:solidFill>
                  <a:srgbClr val="DEC0F1"/>
                </a:solidFill>
                <a:latin typeface="Nunito Sans"/>
                <a:ea typeface="Nunito Sans"/>
                <a:cs typeface="Nunito Sans"/>
                <a:sym typeface="Nunito Sans"/>
              </a:rPr>
            </a:br>
            <a:endParaRPr sz="2400">
              <a:solidFill>
                <a:srgbClr val="DEC0F1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DEC0F1"/>
              </a:buClr>
              <a:buSzPts val="2400"/>
              <a:buFont typeface="Nunito Sans"/>
              <a:buChar char="●"/>
            </a:pPr>
            <a:r>
              <a:rPr lang="en-US" sz="2400">
                <a:solidFill>
                  <a:srgbClr val="DEC0F1"/>
                </a:solidFill>
                <a:latin typeface="Nunito Sans"/>
                <a:ea typeface="Nunito Sans"/>
                <a:cs typeface="Nunito Sans"/>
                <a:sym typeface="Nunito Sans"/>
              </a:rPr>
              <a:t>Cel mai cunoscut algoritm pentru acest tip de căutare este Algoritmul lui Grover, care poate găsi un element într-un șir nesortat mult mai rapid decât metodele clasice.</a:t>
            </a:r>
            <a:endParaRPr sz="2400">
              <a:solidFill>
                <a:srgbClr val="DEC0F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pic>
        <p:nvPicPr>
          <p:cNvPr id="185" name="Google Shape;185;p25" title="41598_2024_81701_Fig6_HTML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945300" y="5644950"/>
            <a:ext cx="8188926" cy="4381075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5"/>
          <p:cNvSpPr txBox="1"/>
          <p:nvPr/>
        </p:nvSpPr>
        <p:spPr>
          <a:xfrm>
            <a:off x="1333650" y="6306425"/>
            <a:ext cx="118434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n-US" sz="3500">
                <a:solidFill>
                  <a:srgbClr val="DEC0F1"/>
                </a:solidFill>
                <a:latin typeface="Nunito Sans"/>
                <a:ea typeface="Nunito Sans"/>
                <a:cs typeface="Nunito Sans"/>
                <a:sym typeface="Nunito Sans"/>
              </a:rPr>
              <a:t>De ce este important?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7" name="Google Shape;187;p25"/>
          <p:cNvGrpSpPr/>
          <p:nvPr/>
        </p:nvGrpSpPr>
        <p:grpSpPr>
          <a:xfrm>
            <a:off x="559975" y="6291477"/>
            <a:ext cx="549290" cy="568686"/>
            <a:chOff x="0" y="-28575"/>
            <a:chExt cx="812800" cy="841500"/>
          </a:xfrm>
        </p:grpSpPr>
        <p:sp>
          <p:nvSpPr>
            <p:cNvPr id="188" name="Google Shape;188;p25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40926"/>
            </a:solidFill>
            <a:ln>
              <a:noFill/>
            </a:ln>
          </p:spPr>
        </p:sp>
        <p:sp>
          <p:nvSpPr>
            <p:cNvPr id="189" name="Google Shape;189;p25"/>
            <p:cNvSpPr txBox="1"/>
            <p:nvPr/>
          </p:nvSpPr>
          <p:spPr>
            <a:xfrm>
              <a:off x="0" y="-28575"/>
              <a:ext cx="812700" cy="84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05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0" name="Google Shape;190;p25"/>
          <p:cNvSpPr txBox="1"/>
          <p:nvPr/>
        </p:nvSpPr>
        <p:spPr>
          <a:xfrm>
            <a:off x="559975" y="6881438"/>
            <a:ext cx="163320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DEC0F1"/>
              </a:buClr>
              <a:buSzPts val="2400"/>
              <a:buFont typeface="Nunito Sans"/>
              <a:buChar char="●"/>
            </a:pPr>
            <a:r>
              <a:rPr lang="en-US" sz="2400">
                <a:solidFill>
                  <a:srgbClr val="DEC0F1"/>
                </a:solidFill>
                <a:latin typeface="Nunito Sans"/>
                <a:ea typeface="Nunito Sans"/>
                <a:cs typeface="Nunito Sans"/>
                <a:sym typeface="Nunito Sans"/>
              </a:rPr>
              <a:t>Revoluționează căutarea în baze de date nesortate.</a:t>
            </a:r>
            <a:br>
              <a:rPr lang="en-US" sz="2400">
                <a:solidFill>
                  <a:srgbClr val="DEC0F1"/>
                </a:solidFill>
                <a:latin typeface="Nunito Sans"/>
                <a:ea typeface="Nunito Sans"/>
                <a:cs typeface="Nunito Sans"/>
                <a:sym typeface="Nunito Sans"/>
              </a:rPr>
            </a:br>
            <a:endParaRPr sz="2400">
              <a:solidFill>
                <a:srgbClr val="DEC0F1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DEC0F1"/>
              </a:buClr>
              <a:buSzPts val="2400"/>
              <a:buFont typeface="Nunito Sans"/>
              <a:buChar char="●"/>
            </a:pPr>
            <a:r>
              <a:rPr lang="en-US" sz="2400">
                <a:solidFill>
                  <a:srgbClr val="DEC0F1"/>
                </a:solidFill>
                <a:latin typeface="Nunito Sans"/>
                <a:ea typeface="Nunito Sans"/>
                <a:cs typeface="Nunito Sans"/>
                <a:sym typeface="Nunito Sans"/>
              </a:rPr>
              <a:t>Are aplicații în criptografie, optimizare și inteligență artificială.</a:t>
            </a:r>
            <a:endParaRPr sz="2400">
              <a:solidFill>
                <a:srgbClr val="DEC0F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EC0F1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5" name="Google Shape;195;g34c237182a4_0_28"/>
          <p:cNvGrpSpPr/>
          <p:nvPr/>
        </p:nvGrpSpPr>
        <p:grpSpPr>
          <a:xfrm>
            <a:off x="15745701" y="1"/>
            <a:ext cx="2542311" cy="2520505"/>
            <a:chOff x="0" y="0"/>
            <a:chExt cx="6688533" cy="6662716"/>
          </a:xfrm>
        </p:grpSpPr>
        <p:grpSp>
          <p:nvGrpSpPr>
            <p:cNvPr id="196" name="Google Shape;196;g34c237182a4_0_28"/>
            <p:cNvGrpSpPr/>
            <p:nvPr/>
          </p:nvGrpSpPr>
          <p:grpSpPr>
            <a:xfrm>
              <a:off x="0" y="0"/>
              <a:ext cx="3344266" cy="3344266"/>
              <a:chOff x="0" y="0"/>
              <a:chExt cx="812800" cy="812800"/>
            </a:xfrm>
          </p:grpSpPr>
          <p:sp>
            <p:nvSpPr>
              <p:cNvPr id="197" name="Google Shape;197;g34c237182a4_0_2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040926"/>
              </a:solidFill>
              <a:ln>
                <a:noFill/>
              </a:ln>
            </p:spPr>
          </p:sp>
          <p:sp>
            <p:nvSpPr>
              <p:cNvPr id="198" name="Google Shape;198;g34c237182a4_0_28"/>
              <p:cNvSpPr txBox="1"/>
              <p:nvPr/>
            </p:nvSpPr>
            <p:spPr>
              <a:xfrm>
                <a:off x="0" y="0"/>
                <a:ext cx="812700" cy="812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97111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9" name="Google Shape;199;g34c237182a4_0_28"/>
            <p:cNvGrpSpPr/>
            <p:nvPr/>
          </p:nvGrpSpPr>
          <p:grpSpPr>
            <a:xfrm>
              <a:off x="3344267" y="3318450"/>
              <a:ext cx="3344266" cy="3344266"/>
              <a:chOff x="0" y="0"/>
              <a:chExt cx="812800" cy="812800"/>
            </a:xfrm>
          </p:grpSpPr>
          <p:sp>
            <p:nvSpPr>
              <p:cNvPr id="200" name="Google Shape;200;g34c237182a4_0_2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040926"/>
              </a:solidFill>
              <a:ln>
                <a:noFill/>
              </a:ln>
            </p:spPr>
          </p:sp>
          <p:sp>
            <p:nvSpPr>
              <p:cNvPr id="201" name="Google Shape;201;g34c237182a4_0_28"/>
              <p:cNvSpPr txBox="1"/>
              <p:nvPr/>
            </p:nvSpPr>
            <p:spPr>
              <a:xfrm>
                <a:off x="0" y="0"/>
                <a:ext cx="812700" cy="812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97111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2" name="Google Shape;202;g34c237182a4_0_28"/>
            <p:cNvGrpSpPr/>
            <p:nvPr/>
          </p:nvGrpSpPr>
          <p:grpSpPr>
            <a:xfrm>
              <a:off x="3344267" y="0"/>
              <a:ext cx="3344266" cy="3344266"/>
              <a:chOff x="0" y="0"/>
              <a:chExt cx="812800" cy="812800"/>
            </a:xfrm>
          </p:grpSpPr>
          <p:sp>
            <p:nvSpPr>
              <p:cNvPr id="203" name="Google Shape;203;g34c237182a4_0_2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7D2AE8"/>
              </a:solidFill>
              <a:ln>
                <a:noFill/>
              </a:ln>
            </p:spPr>
          </p:sp>
          <p:sp>
            <p:nvSpPr>
              <p:cNvPr id="204" name="Google Shape;204;g34c237182a4_0_28"/>
              <p:cNvSpPr txBox="1"/>
              <p:nvPr/>
            </p:nvSpPr>
            <p:spPr>
              <a:xfrm>
                <a:off x="0" y="0"/>
                <a:ext cx="812700" cy="812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97111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5" name="Google Shape;205;g34c237182a4_0_28"/>
            <p:cNvGrpSpPr/>
            <p:nvPr/>
          </p:nvGrpSpPr>
          <p:grpSpPr>
            <a:xfrm>
              <a:off x="0" y="3318450"/>
              <a:ext cx="3344266" cy="3344266"/>
              <a:chOff x="0" y="0"/>
              <a:chExt cx="812800" cy="812800"/>
            </a:xfrm>
          </p:grpSpPr>
          <p:sp>
            <p:nvSpPr>
              <p:cNvPr id="206" name="Google Shape;206;g34c237182a4_0_2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7D2AE8"/>
              </a:solidFill>
              <a:ln>
                <a:noFill/>
              </a:ln>
            </p:spPr>
          </p:sp>
          <p:sp>
            <p:nvSpPr>
              <p:cNvPr id="207" name="Google Shape;207;g34c237182a4_0_28"/>
              <p:cNvSpPr txBox="1"/>
              <p:nvPr/>
            </p:nvSpPr>
            <p:spPr>
              <a:xfrm>
                <a:off x="0" y="0"/>
                <a:ext cx="812700" cy="812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97111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id="208" name="Google Shape;208;g34c237182a4_0_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147185" y="64500"/>
            <a:ext cx="987050" cy="1137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g34c237182a4_0_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825141" y="1324949"/>
            <a:ext cx="1124220" cy="1118925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g34c237182a4_0_28"/>
          <p:cNvSpPr txBox="1"/>
          <p:nvPr/>
        </p:nvSpPr>
        <p:spPr>
          <a:xfrm>
            <a:off x="559983" y="8680450"/>
            <a:ext cx="11843400" cy="12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DEC0F1"/>
                </a:solidFill>
                <a:latin typeface="Nunito Sans"/>
                <a:ea typeface="Nunito Sans"/>
                <a:cs typeface="Nunito Sans"/>
                <a:sym typeface="Nunito Sans"/>
              </a:rPr>
              <a:t>You can find these fonts online too.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DEC0F1"/>
                </a:solidFill>
                <a:latin typeface="Nunito Sans"/>
                <a:ea typeface="Nunito Sans"/>
                <a:cs typeface="Nunito Sans"/>
                <a:sym typeface="Nunito Sans"/>
              </a:rPr>
              <a:t>Happy designing!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1" name="Google Shape;211;g34c237182a4_0_28"/>
          <p:cNvGrpSpPr/>
          <p:nvPr/>
        </p:nvGrpSpPr>
        <p:grpSpPr>
          <a:xfrm>
            <a:off x="-75" y="2520498"/>
            <a:ext cx="18288130" cy="7766289"/>
            <a:chOff x="-893" y="-28575"/>
            <a:chExt cx="3411710" cy="1344509"/>
          </a:xfrm>
        </p:grpSpPr>
        <p:sp>
          <p:nvSpPr>
            <p:cNvPr id="212" name="Google Shape;212;g34c237182a4_0_28"/>
            <p:cNvSpPr/>
            <p:nvPr/>
          </p:nvSpPr>
          <p:spPr>
            <a:xfrm>
              <a:off x="-893" y="-9"/>
              <a:ext cx="3411710" cy="1315943"/>
            </a:xfrm>
            <a:custGeom>
              <a:rect b="b" l="l" r="r" t="t"/>
              <a:pathLst>
                <a:path extrusionOk="0" h="1315943" w="3411710">
                  <a:moveTo>
                    <a:pt x="0" y="0"/>
                  </a:moveTo>
                  <a:lnTo>
                    <a:pt x="3411710" y="0"/>
                  </a:lnTo>
                  <a:lnTo>
                    <a:pt x="3411710" y="1315943"/>
                  </a:lnTo>
                  <a:lnTo>
                    <a:pt x="0" y="1315943"/>
                  </a:lnTo>
                  <a:close/>
                </a:path>
              </a:pathLst>
            </a:custGeom>
            <a:solidFill>
              <a:srgbClr val="7D2AE8"/>
            </a:solidFill>
            <a:ln>
              <a:noFill/>
            </a:ln>
          </p:spPr>
        </p:sp>
        <p:sp>
          <p:nvSpPr>
            <p:cNvPr id="213" name="Google Shape;213;g34c237182a4_0_28"/>
            <p:cNvSpPr txBox="1"/>
            <p:nvPr/>
          </p:nvSpPr>
          <p:spPr>
            <a:xfrm>
              <a:off x="0" y="-28575"/>
              <a:ext cx="812700" cy="84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05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4" name="Google Shape;214;g34c237182a4_0_28"/>
          <p:cNvSpPr txBox="1"/>
          <p:nvPr/>
        </p:nvSpPr>
        <p:spPr>
          <a:xfrm>
            <a:off x="1333650" y="3231250"/>
            <a:ext cx="118434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n-US" sz="3500">
                <a:solidFill>
                  <a:srgbClr val="DEC0F1"/>
                </a:solidFill>
                <a:latin typeface="Nunito Sans"/>
                <a:ea typeface="Nunito Sans"/>
                <a:cs typeface="Nunito Sans"/>
                <a:sym typeface="Nunito Sans"/>
              </a:rPr>
              <a:t>Metoda clasică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g34c237182a4_0_28"/>
          <p:cNvSpPr txBox="1"/>
          <p:nvPr/>
        </p:nvSpPr>
        <p:spPr>
          <a:xfrm>
            <a:off x="-604904" y="10978240"/>
            <a:ext cx="11843400" cy="14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69873" lvl="1" marL="539748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DEC0F1"/>
              </a:buClr>
              <a:buSzPts val="2499"/>
              <a:buFont typeface="Arial"/>
              <a:buChar char="•"/>
            </a:pPr>
            <a:r>
              <a:rPr b="0" i="0" lang="en-US" sz="2499" u="none" cap="none" strike="noStrike">
                <a:solidFill>
                  <a:srgbClr val="DEC0F1"/>
                </a:solidFill>
                <a:latin typeface="Nunito Sans"/>
                <a:ea typeface="Nunito Sans"/>
                <a:cs typeface="Nunito Sans"/>
                <a:sym typeface="Nunito Sans"/>
              </a:rPr>
              <a:t>Titles: Russo One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9873" lvl="1" marL="539748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DEC0F1"/>
              </a:buClr>
              <a:buSzPts val="2499"/>
              <a:buFont typeface="Arial"/>
              <a:buChar char="•"/>
            </a:pPr>
            <a:r>
              <a:rPr b="0" i="0" lang="en-US" sz="2499" u="none" cap="none" strike="noStrike">
                <a:solidFill>
                  <a:srgbClr val="DEC0F1"/>
                </a:solidFill>
                <a:latin typeface="Nunito Sans"/>
                <a:ea typeface="Nunito Sans"/>
                <a:cs typeface="Nunito Sans"/>
                <a:sym typeface="Nunito Sans"/>
              </a:rPr>
              <a:t>Headers: Nunito Sans Regular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9875" lvl="1" marL="53975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EC0F1"/>
              </a:buClr>
              <a:buSzPts val="2500"/>
              <a:buFont typeface="Arial"/>
              <a:buChar char="•"/>
            </a:pPr>
            <a:r>
              <a:rPr b="0" i="0" lang="en-US" sz="2500" u="none" cap="none" strike="noStrike">
                <a:solidFill>
                  <a:srgbClr val="DEC0F1"/>
                </a:solidFill>
                <a:latin typeface="Nunito Sans"/>
                <a:ea typeface="Nunito Sans"/>
                <a:cs typeface="Nunito Sans"/>
                <a:sym typeface="Nunito Sans"/>
              </a:rPr>
              <a:t>Body Copy: Nunito Sans Regular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g34c237182a4_0_28"/>
          <p:cNvSpPr txBox="1"/>
          <p:nvPr/>
        </p:nvSpPr>
        <p:spPr>
          <a:xfrm>
            <a:off x="559976" y="822125"/>
            <a:ext cx="16647000" cy="12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36"/>
              <a:buFont typeface="Arial"/>
              <a:buNone/>
            </a:pPr>
            <a:r>
              <a:rPr lang="en-US" sz="8336">
                <a:solidFill>
                  <a:srgbClr val="040926"/>
                </a:solidFill>
                <a:latin typeface="Russo One"/>
                <a:ea typeface="Russo One"/>
                <a:cs typeface="Russo One"/>
                <a:sym typeface="Russo One"/>
              </a:rPr>
              <a:t>Complexitatea Algoritmului</a:t>
            </a:r>
            <a:endParaRPr b="0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7" name="Google Shape;217;g34c237182a4_0_28"/>
          <p:cNvGrpSpPr/>
          <p:nvPr/>
        </p:nvGrpSpPr>
        <p:grpSpPr>
          <a:xfrm>
            <a:off x="663813" y="3322636"/>
            <a:ext cx="341620" cy="356039"/>
            <a:chOff x="0" y="-28575"/>
            <a:chExt cx="812800" cy="841500"/>
          </a:xfrm>
        </p:grpSpPr>
        <p:sp>
          <p:nvSpPr>
            <p:cNvPr id="218" name="Google Shape;218;g34c237182a4_0_28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40926"/>
            </a:solidFill>
            <a:ln>
              <a:noFill/>
            </a:ln>
          </p:spPr>
        </p:sp>
        <p:sp>
          <p:nvSpPr>
            <p:cNvPr id="219" name="Google Shape;219;g34c237182a4_0_28"/>
            <p:cNvSpPr txBox="1"/>
            <p:nvPr/>
          </p:nvSpPr>
          <p:spPr>
            <a:xfrm>
              <a:off x="0" y="-28575"/>
              <a:ext cx="812700" cy="84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05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0" name="Google Shape;220;g34c237182a4_0_28"/>
          <p:cNvSpPr txBox="1"/>
          <p:nvPr/>
        </p:nvSpPr>
        <p:spPr>
          <a:xfrm>
            <a:off x="559975" y="3784988"/>
            <a:ext cx="163320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DEC0F1"/>
              </a:buClr>
              <a:buSzPts val="2400"/>
              <a:buFont typeface="Nunito Sans"/>
              <a:buChar char="●"/>
            </a:pPr>
            <a:r>
              <a:rPr lang="en-US" sz="2400">
                <a:solidFill>
                  <a:srgbClr val="DEC0F1"/>
                </a:solidFill>
                <a:latin typeface="Nunito Sans"/>
                <a:ea typeface="Nunito Sans"/>
                <a:cs typeface="Nunito Sans"/>
                <a:sym typeface="Nunito Sans"/>
              </a:rPr>
              <a:t>Trebuie să </a:t>
            </a:r>
            <a:r>
              <a:rPr lang="en-US" sz="2400">
                <a:solidFill>
                  <a:srgbClr val="DEC0F1"/>
                </a:solidFill>
                <a:latin typeface="Nunito Sans"/>
                <a:ea typeface="Nunito Sans"/>
                <a:cs typeface="Nunito Sans"/>
                <a:sym typeface="Nunito Sans"/>
              </a:rPr>
              <a:t>verificăm,</a:t>
            </a:r>
            <a:r>
              <a:rPr lang="en-US" sz="2400">
                <a:solidFill>
                  <a:srgbClr val="DEC0F1"/>
                </a:solidFill>
                <a:latin typeface="Nunito Sans"/>
                <a:ea typeface="Nunito Sans"/>
                <a:cs typeface="Nunito Sans"/>
                <a:sym typeface="Nunito Sans"/>
              </a:rPr>
              <a:t> în cel mai rău caz, toate cele N elemente.</a:t>
            </a:r>
            <a:br>
              <a:rPr lang="en-US" sz="2400">
                <a:solidFill>
                  <a:srgbClr val="DEC0F1"/>
                </a:solidFill>
                <a:latin typeface="Nunito Sans"/>
                <a:ea typeface="Nunito Sans"/>
                <a:cs typeface="Nunito Sans"/>
                <a:sym typeface="Nunito Sans"/>
              </a:rPr>
            </a:br>
            <a:endParaRPr sz="2400">
              <a:solidFill>
                <a:srgbClr val="DEC0F1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DEC0F1"/>
              </a:buClr>
              <a:buSzPts val="2400"/>
              <a:buFont typeface="Nunito Sans"/>
              <a:buChar char="●"/>
            </a:pPr>
            <a:r>
              <a:rPr lang="en-US" sz="2400">
                <a:solidFill>
                  <a:srgbClr val="DEC0F1"/>
                </a:solidFill>
                <a:latin typeface="Nunito Sans"/>
                <a:ea typeface="Nunito Sans"/>
                <a:cs typeface="Nunito Sans"/>
                <a:sym typeface="Nunito Sans"/>
              </a:rPr>
              <a:t>Complexitate: O(N)</a:t>
            </a:r>
            <a:endParaRPr sz="2400">
              <a:solidFill>
                <a:srgbClr val="DEC0F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221" name="Google Shape;221;g34c237182a4_0_28"/>
          <p:cNvSpPr txBox="1"/>
          <p:nvPr/>
        </p:nvSpPr>
        <p:spPr>
          <a:xfrm>
            <a:off x="1333650" y="5092950"/>
            <a:ext cx="118434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n-US" sz="3500">
                <a:solidFill>
                  <a:srgbClr val="DEC0F1"/>
                </a:solidFill>
                <a:latin typeface="Nunito Sans"/>
                <a:ea typeface="Nunito Sans"/>
                <a:cs typeface="Nunito Sans"/>
                <a:sym typeface="Nunito Sans"/>
              </a:rPr>
              <a:t>Metoda cuantică (Grover)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2" name="Google Shape;222;g34c237182a4_0_28"/>
          <p:cNvGrpSpPr/>
          <p:nvPr/>
        </p:nvGrpSpPr>
        <p:grpSpPr>
          <a:xfrm>
            <a:off x="663825" y="5194971"/>
            <a:ext cx="445440" cy="356039"/>
            <a:chOff x="0" y="-28575"/>
            <a:chExt cx="1059815" cy="841500"/>
          </a:xfrm>
        </p:grpSpPr>
        <p:sp>
          <p:nvSpPr>
            <p:cNvPr id="223" name="Google Shape;223;g34c237182a4_0_28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40926"/>
            </a:solidFill>
            <a:ln>
              <a:noFill/>
            </a:ln>
          </p:spPr>
        </p:sp>
        <p:sp>
          <p:nvSpPr>
            <p:cNvPr id="224" name="Google Shape;224;g34c237182a4_0_28"/>
            <p:cNvSpPr txBox="1"/>
            <p:nvPr/>
          </p:nvSpPr>
          <p:spPr>
            <a:xfrm>
              <a:off x="247115" y="-28575"/>
              <a:ext cx="812700" cy="84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05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5" name="Google Shape;225;g34c237182a4_0_28"/>
          <p:cNvSpPr txBox="1"/>
          <p:nvPr/>
        </p:nvSpPr>
        <p:spPr>
          <a:xfrm>
            <a:off x="559975" y="5667963"/>
            <a:ext cx="163320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DEC0F1"/>
              </a:buClr>
              <a:buSzPts val="2400"/>
              <a:buFont typeface="Nunito Sans"/>
              <a:buChar char="●"/>
            </a:pPr>
            <a:r>
              <a:rPr lang="en-US" sz="2400">
                <a:solidFill>
                  <a:srgbClr val="DEC0F1"/>
                </a:solidFill>
                <a:latin typeface="Nunito Sans"/>
                <a:ea typeface="Nunito Sans"/>
                <a:cs typeface="Nunito Sans"/>
                <a:sym typeface="Nunito Sans"/>
              </a:rPr>
              <a:t>Exploatează suprapunerea și interferența pentru a accelera </a:t>
            </a:r>
            <a:r>
              <a:rPr lang="en-US" sz="2400">
                <a:solidFill>
                  <a:srgbClr val="DEC0F1"/>
                </a:solidFill>
                <a:latin typeface="Nunito Sans"/>
                <a:ea typeface="Nunito Sans"/>
                <a:cs typeface="Nunito Sans"/>
                <a:sym typeface="Nunito Sans"/>
              </a:rPr>
              <a:t>căutarea</a:t>
            </a:r>
            <a:r>
              <a:rPr lang="en-US" sz="2400">
                <a:solidFill>
                  <a:srgbClr val="DEC0F1"/>
                </a:solidFill>
                <a:latin typeface="Nunito Sans"/>
                <a:ea typeface="Nunito Sans"/>
                <a:cs typeface="Nunito Sans"/>
                <a:sym typeface="Nunito Sans"/>
              </a:rPr>
              <a:t>.</a:t>
            </a:r>
            <a:br>
              <a:rPr lang="en-US" sz="2400">
                <a:solidFill>
                  <a:srgbClr val="DEC0F1"/>
                </a:solidFill>
                <a:latin typeface="Nunito Sans"/>
                <a:ea typeface="Nunito Sans"/>
                <a:cs typeface="Nunito Sans"/>
                <a:sym typeface="Nunito Sans"/>
              </a:rPr>
            </a:br>
            <a:endParaRPr sz="2400">
              <a:solidFill>
                <a:srgbClr val="DEC0F1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DEC0F1"/>
              </a:buClr>
              <a:buSzPts val="2400"/>
              <a:buFont typeface="Nunito Sans"/>
              <a:buChar char="●"/>
            </a:pPr>
            <a:r>
              <a:rPr lang="en-US" sz="2400">
                <a:solidFill>
                  <a:srgbClr val="DEC0F1"/>
                </a:solidFill>
                <a:latin typeface="Nunito Sans"/>
                <a:ea typeface="Nunito Sans"/>
                <a:cs typeface="Nunito Sans"/>
                <a:sym typeface="Nunito Sans"/>
              </a:rPr>
              <a:t>Complexitate O(</a:t>
            </a:r>
            <a:r>
              <a:rPr lang="en-US" sz="2400">
                <a:solidFill>
                  <a:srgbClr val="DEC0F1"/>
                </a:solidFill>
                <a:latin typeface="Nunito Sans"/>
                <a:ea typeface="Nunito Sans"/>
                <a:cs typeface="Nunito Sans"/>
                <a:sym typeface="Nunito Sans"/>
              </a:rPr>
              <a:t>√N</a:t>
            </a:r>
            <a:r>
              <a:rPr lang="en-US" sz="2400">
                <a:solidFill>
                  <a:srgbClr val="DEC0F1"/>
                </a:solidFill>
                <a:latin typeface="Nunito Sans"/>
                <a:ea typeface="Nunito Sans"/>
                <a:cs typeface="Nunito Sans"/>
                <a:sym typeface="Nunito Sans"/>
              </a:rPr>
              <a:t>), mult mai eficient pentru seturi mari de date.</a:t>
            </a:r>
            <a:endParaRPr sz="2400">
              <a:solidFill>
                <a:srgbClr val="DEC0F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pic>
        <p:nvPicPr>
          <p:cNvPr id="226" name="Google Shape;226;g34c237182a4_0_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973988" y="4260500"/>
            <a:ext cx="6524625" cy="4562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D2AE8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4c237182a4_0_1240"/>
          <p:cNvSpPr txBox="1"/>
          <p:nvPr/>
        </p:nvSpPr>
        <p:spPr>
          <a:xfrm>
            <a:off x="559972" y="6516850"/>
            <a:ext cx="13046100" cy="33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0"/>
              <a:buFont typeface="Arial"/>
              <a:buNone/>
            </a:pPr>
            <a:r>
              <a:rPr lang="en-US" sz="11000">
                <a:solidFill>
                  <a:srgbClr val="DEC0F1"/>
                </a:solidFill>
                <a:latin typeface="Russo One"/>
                <a:ea typeface="Russo One"/>
                <a:cs typeface="Russo One"/>
                <a:sym typeface="Russo One"/>
              </a:rPr>
              <a:t>Functionarea Algoritmului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2" name="Google Shape;232;g34c237182a4_0_1240"/>
          <p:cNvGrpSpPr/>
          <p:nvPr/>
        </p:nvGrpSpPr>
        <p:grpSpPr>
          <a:xfrm rot="5400000">
            <a:off x="14774458" y="6794"/>
            <a:ext cx="3520336" cy="3506748"/>
            <a:chOff x="0" y="0"/>
            <a:chExt cx="4693781" cy="4675664"/>
          </a:xfrm>
        </p:grpSpPr>
        <p:grpSp>
          <p:nvGrpSpPr>
            <p:cNvPr id="233" name="Google Shape;233;g34c237182a4_0_1240"/>
            <p:cNvGrpSpPr/>
            <p:nvPr/>
          </p:nvGrpSpPr>
          <p:grpSpPr>
            <a:xfrm>
              <a:off x="0" y="0"/>
              <a:ext cx="2346879" cy="2346879"/>
              <a:chOff x="0" y="0"/>
              <a:chExt cx="812800" cy="812800"/>
            </a:xfrm>
          </p:grpSpPr>
          <p:sp>
            <p:nvSpPr>
              <p:cNvPr id="234" name="Google Shape;234;g34c237182a4_0_124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040926"/>
              </a:solidFill>
              <a:ln>
                <a:noFill/>
              </a:ln>
            </p:spPr>
          </p:sp>
          <p:sp>
            <p:nvSpPr>
              <p:cNvPr id="235" name="Google Shape;235;g34c237182a4_0_1240"/>
              <p:cNvSpPr txBox="1"/>
              <p:nvPr/>
            </p:nvSpPr>
            <p:spPr>
              <a:xfrm>
                <a:off x="0" y="0"/>
                <a:ext cx="812700" cy="812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97166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6" name="Google Shape;236;g34c237182a4_0_1240"/>
            <p:cNvGrpSpPr/>
            <p:nvPr/>
          </p:nvGrpSpPr>
          <p:grpSpPr>
            <a:xfrm>
              <a:off x="2346902" y="2328785"/>
              <a:ext cx="2346879" cy="2346879"/>
              <a:chOff x="0" y="0"/>
              <a:chExt cx="812800" cy="812800"/>
            </a:xfrm>
          </p:grpSpPr>
          <p:sp>
            <p:nvSpPr>
              <p:cNvPr id="237" name="Google Shape;237;g34c237182a4_0_124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040926"/>
              </a:solidFill>
              <a:ln>
                <a:noFill/>
              </a:ln>
            </p:spPr>
          </p:sp>
          <p:sp>
            <p:nvSpPr>
              <p:cNvPr id="238" name="Google Shape;238;g34c237182a4_0_1240"/>
              <p:cNvSpPr txBox="1"/>
              <p:nvPr/>
            </p:nvSpPr>
            <p:spPr>
              <a:xfrm>
                <a:off x="0" y="0"/>
                <a:ext cx="812700" cy="812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97166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9" name="Google Shape;239;g34c237182a4_0_1240"/>
            <p:cNvGrpSpPr/>
            <p:nvPr/>
          </p:nvGrpSpPr>
          <p:grpSpPr>
            <a:xfrm>
              <a:off x="2346902" y="0"/>
              <a:ext cx="2346879" cy="2346879"/>
              <a:chOff x="0" y="0"/>
              <a:chExt cx="812800" cy="812800"/>
            </a:xfrm>
          </p:grpSpPr>
          <p:sp>
            <p:nvSpPr>
              <p:cNvPr id="240" name="Google Shape;240;g34c237182a4_0_124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7D2AE8"/>
              </a:solidFill>
              <a:ln>
                <a:noFill/>
              </a:ln>
            </p:spPr>
          </p:sp>
          <p:sp>
            <p:nvSpPr>
              <p:cNvPr id="241" name="Google Shape;241;g34c237182a4_0_1240"/>
              <p:cNvSpPr txBox="1"/>
              <p:nvPr/>
            </p:nvSpPr>
            <p:spPr>
              <a:xfrm>
                <a:off x="0" y="0"/>
                <a:ext cx="812700" cy="812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97166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42" name="Google Shape;242;g34c237182a4_0_1240"/>
            <p:cNvGrpSpPr/>
            <p:nvPr/>
          </p:nvGrpSpPr>
          <p:grpSpPr>
            <a:xfrm>
              <a:off x="0" y="2328785"/>
              <a:ext cx="2346879" cy="2346879"/>
              <a:chOff x="0" y="0"/>
              <a:chExt cx="812800" cy="812800"/>
            </a:xfrm>
          </p:grpSpPr>
          <p:sp>
            <p:nvSpPr>
              <p:cNvPr id="243" name="Google Shape;243;g34c237182a4_0_124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7D2AE8"/>
              </a:solidFill>
              <a:ln>
                <a:noFill/>
              </a:ln>
            </p:spPr>
          </p:sp>
          <p:sp>
            <p:nvSpPr>
              <p:cNvPr id="244" name="Google Shape;244;g34c237182a4_0_1240"/>
              <p:cNvSpPr txBox="1"/>
              <p:nvPr/>
            </p:nvSpPr>
            <p:spPr>
              <a:xfrm>
                <a:off x="0" y="0"/>
                <a:ext cx="812700" cy="812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97166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45" name="Google Shape;245;g34c237182a4_0_1240"/>
          <p:cNvGrpSpPr/>
          <p:nvPr/>
        </p:nvGrpSpPr>
        <p:grpSpPr>
          <a:xfrm rot="5400000">
            <a:off x="14774458" y="3527148"/>
            <a:ext cx="3520336" cy="3506748"/>
            <a:chOff x="0" y="0"/>
            <a:chExt cx="4693781" cy="4675664"/>
          </a:xfrm>
        </p:grpSpPr>
        <p:grpSp>
          <p:nvGrpSpPr>
            <p:cNvPr id="246" name="Google Shape;246;g34c237182a4_0_1240"/>
            <p:cNvGrpSpPr/>
            <p:nvPr/>
          </p:nvGrpSpPr>
          <p:grpSpPr>
            <a:xfrm>
              <a:off x="0" y="0"/>
              <a:ext cx="2346879" cy="2346879"/>
              <a:chOff x="0" y="0"/>
              <a:chExt cx="812800" cy="812800"/>
            </a:xfrm>
          </p:grpSpPr>
          <p:sp>
            <p:nvSpPr>
              <p:cNvPr id="247" name="Google Shape;247;g34c237182a4_0_124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040926"/>
              </a:solidFill>
              <a:ln>
                <a:noFill/>
              </a:ln>
            </p:spPr>
          </p:sp>
          <p:sp>
            <p:nvSpPr>
              <p:cNvPr id="248" name="Google Shape;248;g34c237182a4_0_1240"/>
              <p:cNvSpPr txBox="1"/>
              <p:nvPr/>
            </p:nvSpPr>
            <p:spPr>
              <a:xfrm>
                <a:off x="0" y="0"/>
                <a:ext cx="812700" cy="812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97166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49" name="Google Shape;249;g34c237182a4_0_1240"/>
            <p:cNvGrpSpPr/>
            <p:nvPr/>
          </p:nvGrpSpPr>
          <p:grpSpPr>
            <a:xfrm>
              <a:off x="2346902" y="2328785"/>
              <a:ext cx="2346879" cy="2346879"/>
              <a:chOff x="0" y="0"/>
              <a:chExt cx="812800" cy="812800"/>
            </a:xfrm>
          </p:grpSpPr>
          <p:sp>
            <p:nvSpPr>
              <p:cNvPr id="250" name="Google Shape;250;g34c237182a4_0_124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040926"/>
              </a:solidFill>
              <a:ln>
                <a:noFill/>
              </a:ln>
            </p:spPr>
          </p:sp>
          <p:sp>
            <p:nvSpPr>
              <p:cNvPr id="251" name="Google Shape;251;g34c237182a4_0_1240"/>
              <p:cNvSpPr txBox="1"/>
              <p:nvPr/>
            </p:nvSpPr>
            <p:spPr>
              <a:xfrm>
                <a:off x="0" y="0"/>
                <a:ext cx="812700" cy="812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97166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2" name="Google Shape;252;g34c237182a4_0_1240"/>
            <p:cNvGrpSpPr/>
            <p:nvPr/>
          </p:nvGrpSpPr>
          <p:grpSpPr>
            <a:xfrm>
              <a:off x="2346902" y="0"/>
              <a:ext cx="2346879" cy="2346879"/>
              <a:chOff x="0" y="0"/>
              <a:chExt cx="812800" cy="812800"/>
            </a:xfrm>
          </p:grpSpPr>
          <p:sp>
            <p:nvSpPr>
              <p:cNvPr id="253" name="Google Shape;253;g34c237182a4_0_124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7D2AE8"/>
              </a:solidFill>
              <a:ln>
                <a:noFill/>
              </a:ln>
            </p:spPr>
          </p:sp>
          <p:sp>
            <p:nvSpPr>
              <p:cNvPr id="254" name="Google Shape;254;g34c237182a4_0_1240"/>
              <p:cNvSpPr txBox="1"/>
              <p:nvPr/>
            </p:nvSpPr>
            <p:spPr>
              <a:xfrm>
                <a:off x="0" y="0"/>
                <a:ext cx="812700" cy="812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97166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5" name="Google Shape;255;g34c237182a4_0_1240"/>
            <p:cNvGrpSpPr/>
            <p:nvPr/>
          </p:nvGrpSpPr>
          <p:grpSpPr>
            <a:xfrm>
              <a:off x="0" y="2328785"/>
              <a:ext cx="2346879" cy="2346879"/>
              <a:chOff x="0" y="0"/>
              <a:chExt cx="812800" cy="812800"/>
            </a:xfrm>
          </p:grpSpPr>
          <p:sp>
            <p:nvSpPr>
              <p:cNvPr id="256" name="Google Shape;256;g34c237182a4_0_124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7D2AE8"/>
              </a:solidFill>
              <a:ln>
                <a:noFill/>
              </a:ln>
            </p:spPr>
          </p:sp>
          <p:sp>
            <p:nvSpPr>
              <p:cNvPr id="257" name="Google Shape;257;g34c237182a4_0_1240"/>
              <p:cNvSpPr txBox="1"/>
              <p:nvPr/>
            </p:nvSpPr>
            <p:spPr>
              <a:xfrm>
                <a:off x="0" y="0"/>
                <a:ext cx="812700" cy="812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97166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58" name="Google Shape;258;g34c237182a4_0_1240"/>
          <p:cNvGrpSpPr/>
          <p:nvPr/>
        </p:nvGrpSpPr>
        <p:grpSpPr>
          <a:xfrm>
            <a:off x="564150" y="1737195"/>
            <a:ext cx="2873085" cy="2974534"/>
            <a:chOff x="0" y="-28575"/>
            <a:chExt cx="812800" cy="841500"/>
          </a:xfrm>
        </p:grpSpPr>
        <p:sp>
          <p:nvSpPr>
            <p:cNvPr id="259" name="Google Shape;259;g34c237182a4_0_1240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DEC0F1"/>
            </a:solidFill>
            <a:ln>
              <a:noFill/>
            </a:ln>
          </p:spPr>
        </p:sp>
        <p:sp>
          <p:nvSpPr>
            <p:cNvPr id="260" name="Google Shape;260;g34c237182a4_0_1240"/>
            <p:cNvSpPr txBox="1"/>
            <p:nvPr/>
          </p:nvSpPr>
          <p:spPr>
            <a:xfrm>
              <a:off x="0" y="-28575"/>
              <a:ext cx="812700" cy="84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05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61" name="Google Shape;261;g34c237182a4_0_12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810453" y="2079511"/>
            <a:ext cx="2380520" cy="238052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2" name="Google Shape;262;g34c237182a4_0_1240"/>
          <p:cNvGrpSpPr/>
          <p:nvPr/>
        </p:nvGrpSpPr>
        <p:grpSpPr>
          <a:xfrm rot="5400000">
            <a:off x="14774458" y="7047501"/>
            <a:ext cx="3520336" cy="3506748"/>
            <a:chOff x="0" y="0"/>
            <a:chExt cx="4693781" cy="4675664"/>
          </a:xfrm>
        </p:grpSpPr>
        <p:grpSp>
          <p:nvGrpSpPr>
            <p:cNvPr id="263" name="Google Shape;263;g34c237182a4_0_1240"/>
            <p:cNvGrpSpPr/>
            <p:nvPr/>
          </p:nvGrpSpPr>
          <p:grpSpPr>
            <a:xfrm>
              <a:off x="0" y="0"/>
              <a:ext cx="2346879" cy="2346879"/>
              <a:chOff x="0" y="0"/>
              <a:chExt cx="812800" cy="812800"/>
            </a:xfrm>
          </p:grpSpPr>
          <p:sp>
            <p:nvSpPr>
              <p:cNvPr id="264" name="Google Shape;264;g34c237182a4_0_124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040926"/>
              </a:solidFill>
              <a:ln>
                <a:noFill/>
              </a:ln>
            </p:spPr>
          </p:sp>
          <p:sp>
            <p:nvSpPr>
              <p:cNvPr id="265" name="Google Shape;265;g34c237182a4_0_1240"/>
              <p:cNvSpPr txBox="1"/>
              <p:nvPr/>
            </p:nvSpPr>
            <p:spPr>
              <a:xfrm>
                <a:off x="0" y="0"/>
                <a:ext cx="812700" cy="812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97166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66" name="Google Shape;266;g34c237182a4_0_1240"/>
            <p:cNvGrpSpPr/>
            <p:nvPr/>
          </p:nvGrpSpPr>
          <p:grpSpPr>
            <a:xfrm>
              <a:off x="2346902" y="2328785"/>
              <a:ext cx="2346879" cy="2346879"/>
              <a:chOff x="0" y="0"/>
              <a:chExt cx="812800" cy="812800"/>
            </a:xfrm>
          </p:grpSpPr>
          <p:sp>
            <p:nvSpPr>
              <p:cNvPr id="267" name="Google Shape;267;g34c237182a4_0_124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040926"/>
              </a:solidFill>
              <a:ln>
                <a:noFill/>
              </a:ln>
            </p:spPr>
          </p:sp>
          <p:sp>
            <p:nvSpPr>
              <p:cNvPr id="268" name="Google Shape;268;g34c237182a4_0_1240"/>
              <p:cNvSpPr txBox="1"/>
              <p:nvPr/>
            </p:nvSpPr>
            <p:spPr>
              <a:xfrm>
                <a:off x="0" y="0"/>
                <a:ext cx="812700" cy="812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97166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69" name="Google Shape;269;g34c237182a4_0_1240"/>
            <p:cNvGrpSpPr/>
            <p:nvPr/>
          </p:nvGrpSpPr>
          <p:grpSpPr>
            <a:xfrm>
              <a:off x="2346902" y="0"/>
              <a:ext cx="2346879" cy="2346879"/>
              <a:chOff x="0" y="0"/>
              <a:chExt cx="812800" cy="812800"/>
            </a:xfrm>
          </p:grpSpPr>
          <p:sp>
            <p:nvSpPr>
              <p:cNvPr id="270" name="Google Shape;270;g34c237182a4_0_124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7D2AE8"/>
              </a:solidFill>
              <a:ln>
                <a:noFill/>
              </a:ln>
            </p:spPr>
          </p:sp>
          <p:sp>
            <p:nvSpPr>
              <p:cNvPr id="271" name="Google Shape;271;g34c237182a4_0_1240"/>
              <p:cNvSpPr txBox="1"/>
              <p:nvPr/>
            </p:nvSpPr>
            <p:spPr>
              <a:xfrm>
                <a:off x="0" y="0"/>
                <a:ext cx="812700" cy="812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97166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72" name="Google Shape;272;g34c237182a4_0_1240"/>
            <p:cNvGrpSpPr/>
            <p:nvPr/>
          </p:nvGrpSpPr>
          <p:grpSpPr>
            <a:xfrm>
              <a:off x="0" y="2328785"/>
              <a:ext cx="2346879" cy="2346879"/>
              <a:chOff x="0" y="0"/>
              <a:chExt cx="812800" cy="812800"/>
            </a:xfrm>
          </p:grpSpPr>
          <p:sp>
            <p:nvSpPr>
              <p:cNvPr id="273" name="Google Shape;273;g34c237182a4_0_124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7D2AE8"/>
              </a:solidFill>
              <a:ln>
                <a:noFill/>
              </a:ln>
            </p:spPr>
          </p:sp>
          <p:sp>
            <p:nvSpPr>
              <p:cNvPr id="274" name="Google Shape;274;g34c237182a4_0_1240"/>
              <p:cNvSpPr txBox="1"/>
              <p:nvPr/>
            </p:nvSpPr>
            <p:spPr>
              <a:xfrm>
                <a:off x="0" y="0"/>
                <a:ext cx="812700" cy="812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97166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75" name="Google Shape;275;g34c237182a4_0_1240"/>
          <p:cNvSpPr txBox="1"/>
          <p:nvPr/>
        </p:nvSpPr>
        <p:spPr>
          <a:xfrm>
            <a:off x="4153047" y="6818650"/>
            <a:ext cx="8379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0"/>
              <a:buFont typeface="Arial"/>
              <a:buNone/>
            </a:pPr>
            <a:r>
              <a:rPr lang="en-US" sz="11000">
                <a:solidFill>
                  <a:srgbClr val="DEC0F1"/>
                </a:solidFill>
                <a:latin typeface="Russo One"/>
                <a:ea typeface="Russo One"/>
                <a:cs typeface="Russo One"/>
                <a:sym typeface="Russo One"/>
              </a:rPr>
              <a:t>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EC0F1"/>
        </a:solid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0" name="Google Shape;280;g34c237182a4_0_74"/>
          <p:cNvGrpSpPr/>
          <p:nvPr/>
        </p:nvGrpSpPr>
        <p:grpSpPr>
          <a:xfrm>
            <a:off x="15745701" y="1"/>
            <a:ext cx="2542311" cy="2520505"/>
            <a:chOff x="0" y="0"/>
            <a:chExt cx="6688533" cy="6662716"/>
          </a:xfrm>
        </p:grpSpPr>
        <p:grpSp>
          <p:nvGrpSpPr>
            <p:cNvPr id="281" name="Google Shape;281;g34c237182a4_0_74"/>
            <p:cNvGrpSpPr/>
            <p:nvPr/>
          </p:nvGrpSpPr>
          <p:grpSpPr>
            <a:xfrm>
              <a:off x="0" y="0"/>
              <a:ext cx="3344266" cy="3344266"/>
              <a:chOff x="0" y="0"/>
              <a:chExt cx="812800" cy="812800"/>
            </a:xfrm>
          </p:grpSpPr>
          <p:sp>
            <p:nvSpPr>
              <p:cNvPr id="282" name="Google Shape;282;g34c237182a4_0_7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040926"/>
              </a:solidFill>
              <a:ln>
                <a:noFill/>
              </a:ln>
            </p:spPr>
          </p:sp>
          <p:sp>
            <p:nvSpPr>
              <p:cNvPr id="283" name="Google Shape;283;g34c237182a4_0_74"/>
              <p:cNvSpPr txBox="1"/>
              <p:nvPr/>
            </p:nvSpPr>
            <p:spPr>
              <a:xfrm>
                <a:off x="0" y="0"/>
                <a:ext cx="812700" cy="812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97111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84" name="Google Shape;284;g34c237182a4_0_74"/>
            <p:cNvGrpSpPr/>
            <p:nvPr/>
          </p:nvGrpSpPr>
          <p:grpSpPr>
            <a:xfrm>
              <a:off x="3344267" y="3318450"/>
              <a:ext cx="3344266" cy="3344266"/>
              <a:chOff x="0" y="0"/>
              <a:chExt cx="812800" cy="812800"/>
            </a:xfrm>
          </p:grpSpPr>
          <p:sp>
            <p:nvSpPr>
              <p:cNvPr id="285" name="Google Shape;285;g34c237182a4_0_7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040926"/>
              </a:solidFill>
              <a:ln>
                <a:noFill/>
              </a:ln>
            </p:spPr>
          </p:sp>
          <p:sp>
            <p:nvSpPr>
              <p:cNvPr id="286" name="Google Shape;286;g34c237182a4_0_74"/>
              <p:cNvSpPr txBox="1"/>
              <p:nvPr/>
            </p:nvSpPr>
            <p:spPr>
              <a:xfrm>
                <a:off x="0" y="0"/>
                <a:ext cx="812700" cy="812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97111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87" name="Google Shape;287;g34c237182a4_0_74"/>
            <p:cNvGrpSpPr/>
            <p:nvPr/>
          </p:nvGrpSpPr>
          <p:grpSpPr>
            <a:xfrm>
              <a:off x="3344267" y="0"/>
              <a:ext cx="3344266" cy="3344266"/>
              <a:chOff x="0" y="0"/>
              <a:chExt cx="812800" cy="812800"/>
            </a:xfrm>
          </p:grpSpPr>
          <p:sp>
            <p:nvSpPr>
              <p:cNvPr id="288" name="Google Shape;288;g34c237182a4_0_7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7D2AE8"/>
              </a:solidFill>
              <a:ln>
                <a:noFill/>
              </a:ln>
            </p:spPr>
          </p:sp>
          <p:sp>
            <p:nvSpPr>
              <p:cNvPr id="289" name="Google Shape;289;g34c237182a4_0_74"/>
              <p:cNvSpPr txBox="1"/>
              <p:nvPr/>
            </p:nvSpPr>
            <p:spPr>
              <a:xfrm>
                <a:off x="0" y="0"/>
                <a:ext cx="812700" cy="812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97111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90" name="Google Shape;290;g34c237182a4_0_74"/>
            <p:cNvGrpSpPr/>
            <p:nvPr/>
          </p:nvGrpSpPr>
          <p:grpSpPr>
            <a:xfrm>
              <a:off x="0" y="3318450"/>
              <a:ext cx="3344266" cy="3344266"/>
              <a:chOff x="0" y="0"/>
              <a:chExt cx="812800" cy="812800"/>
            </a:xfrm>
          </p:grpSpPr>
          <p:sp>
            <p:nvSpPr>
              <p:cNvPr id="291" name="Google Shape;291;g34c237182a4_0_7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7D2AE8"/>
              </a:solidFill>
              <a:ln>
                <a:noFill/>
              </a:ln>
            </p:spPr>
          </p:sp>
          <p:sp>
            <p:nvSpPr>
              <p:cNvPr id="292" name="Google Shape;292;g34c237182a4_0_74"/>
              <p:cNvSpPr txBox="1"/>
              <p:nvPr/>
            </p:nvSpPr>
            <p:spPr>
              <a:xfrm>
                <a:off x="0" y="0"/>
                <a:ext cx="812700" cy="812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97111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id="293" name="Google Shape;293;g34c237182a4_0_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147185" y="64500"/>
            <a:ext cx="987050" cy="1137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g34c237182a4_0_7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825141" y="1324949"/>
            <a:ext cx="1124220" cy="1118925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g34c237182a4_0_74"/>
          <p:cNvSpPr txBox="1"/>
          <p:nvPr/>
        </p:nvSpPr>
        <p:spPr>
          <a:xfrm>
            <a:off x="559983" y="8680450"/>
            <a:ext cx="11843400" cy="12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DEC0F1"/>
                </a:solidFill>
                <a:latin typeface="Nunito Sans"/>
                <a:ea typeface="Nunito Sans"/>
                <a:cs typeface="Nunito Sans"/>
                <a:sym typeface="Nunito Sans"/>
              </a:rPr>
              <a:t>You can find these fonts online too.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DEC0F1"/>
                </a:solidFill>
                <a:latin typeface="Nunito Sans"/>
                <a:ea typeface="Nunito Sans"/>
                <a:cs typeface="Nunito Sans"/>
                <a:sym typeface="Nunito Sans"/>
              </a:rPr>
              <a:t>Happy designing!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96" name="Google Shape;296;g34c237182a4_0_74"/>
          <p:cNvGrpSpPr/>
          <p:nvPr/>
        </p:nvGrpSpPr>
        <p:grpSpPr>
          <a:xfrm>
            <a:off x="-75" y="2520498"/>
            <a:ext cx="18288130" cy="7766289"/>
            <a:chOff x="-893" y="-28575"/>
            <a:chExt cx="3411710" cy="1344509"/>
          </a:xfrm>
        </p:grpSpPr>
        <p:sp>
          <p:nvSpPr>
            <p:cNvPr id="297" name="Google Shape;297;g34c237182a4_0_74"/>
            <p:cNvSpPr/>
            <p:nvPr/>
          </p:nvSpPr>
          <p:spPr>
            <a:xfrm>
              <a:off x="-893" y="-9"/>
              <a:ext cx="3411710" cy="1315943"/>
            </a:xfrm>
            <a:custGeom>
              <a:rect b="b" l="l" r="r" t="t"/>
              <a:pathLst>
                <a:path extrusionOk="0" h="1315943" w="3411710">
                  <a:moveTo>
                    <a:pt x="0" y="0"/>
                  </a:moveTo>
                  <a:lnTo>
                    <a:pt x="3411710" y="0"/>
                  </a:lnTo>
                  <a:lnTo>
                    <a:pt x="3411710" y="1315943"/>
                  </a:lnTo>
                  <a:lnTo>
                    <a:pt x="0" y="1315943"/>
                  </a:lnTo>
                  <a:close/>
                </a:path>
              </a:pathLst>
            </a:custGeom>
            <a:solidFill>
              <a:srgbClr val="7D2AE8"/>
            </a:solidFill>
            <a:ln>
              <a:noFill/>
            </a:ln>
          </p:spPr>
        </p:sp>
        <p:sp>
          <p:nvSpPr>
            <p:cNvPr id="298" name="Google Shape;298;g34c237182a4_0_74"/>
            <p:cNvSpPr txBox="1"/>
            <p:nvPr/>
          </p:nvSpPr>
          <p:spPr>
            <a:xfrm>
              <a:off x="0" y="-28575"/>
              <a:ext cx="812700" cy="84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05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9" name="Google Shape;299;g34c237182a4_0_74"/>
          <p:cNvSpPr txBox="1"/>
          <p:nvPr/>
        </p:nvSpPr>
        <p:spPr>
          <a:xfrm>
            <a:off x="1204700" y="3254700"/>
            <a:ext cx="11843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n-US" sz="4000">
                <a:solidFill>
                  <a:srgbClr val="DEC0F1"/>
                </a:solidFill>
                <a:latin typeface="Nunito Sans"/>
                <a:ea typeface="Nunito Sans"/>
                <a:cs typeface="Nunito Sans"/>
                <a:sym typeface="Nunito Sans"/>
              </a:rPr>
              <a:t>Algoritmul lui Grover se </a:t>
            </a:r>
            <a:r>
              <a:rPr lang="en-US" sz="4000">
                <a:solidFill>
                  <a:srgbClr val="DEC0F1"/>
                </a:solidFill>
                <a:latin typeface="Nunito Sans"/>
                <a:ea typeface="Nunito Sans"/>
                <a:cs typeface="Nunito Sans"/>
                <a:sym typeface="Nunito Sans"/>
              </a:rPr>
              <a:t>bazează</a:t>
            </a:r>
            <a:r>
              <a:rPr lang="en-US" sz="4000">
                <a:solidFill>
                  <a:srgbClr val="DEC0F1"/>
                </a:solidFill>
                <a:latin typeface="Nunito Sans"/>
                <a:ea typeface="Nunito Sans"/>
                <a:cs typeface="Nunito Sans"/>
                <a:sym typeface="Nunito Sans"/>
              </a:rPr>
              <a:t> pe 3 </a:t>
            </a:r>
            <a:r>
              <a:rPr lang="en-US" sz="4000">
                <a:solidFill>
                  <a:srgbClr val="DEC0F1"/>
                </a:solidFill>
                <a:latin typeface="Nunito Sans"/>
                <a:ea typeface="Nunito Sans"/>
                <a:cs typeface="Nunito Sans"/>
                <a:sym typeface="Nunito Sans"/>
              </a:rPr>
              <a:t>pași</a:t>
            </a:r>
            <a:r>
              <a:rPr lang="en-US" sz="4000">
                <a:solidFill>
                  <a:srgbClr val="DEC0F1"/>
                </a:solidFill>
                <a:latin typeface="Nunito Sans"/>
                <a:ea typeface="Nunito Sans"/>
                <a:cs typeface="Nunito Sans"/>
                <a:sym typeface="Nunito Sans"/>
              </a:rPr>
              <a:t> esențiali:</a:t>
            </a:r>
            <a:endParaRPr sz="4000">
              <a:solidFill>
                <a:srgbClr val="DEC0F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300" name="Google Shape;300;g34c237182a4_0_74"/>
          <p:cNvSpPr txBox="1"/>
          <p:nvPr/>
        </p:nvSpPr>
        <p:spPr>
          <a:xfrm>
            <a:off x="-604904" y="10978240"/>
            <a:ext cx="11843400" cy="14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69873" lvl="1" marL="539748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DEC0F1"/>
              </a:buClr>
              <a:buSzPts val="2499"/>
              <a:buFont typeface="Arial"/>
              <a:buChar char="•"/>
            </a:pPr>
            <a:r>
              <a:rPr b="0" i="0" lang="en-US" sz="2499" u="none" cap="none" strike="noStrike">
                <a:solidFill>
                  <a:srgbClr val="DEC0F1"/>
                </a:solidFill>
                <a:latin typeface="Nunito Sans"/>
                <a:ea typeface="Nunito Sans"/>
                <a:cs typeface="Nunito Sans"/>
                <a:sym typeface="Nunito Sans"/>
              </a:rPr>
              <a:t>Titles: Russo One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9873" lvl="1" marL="539748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DEC0F1"/>
              </a:buClr>
              <a:buSzPts val="2499"/>
              <a:buFont typeface="Arial"/>
              <a:buChar char="•"/>
            </a:pPr>
            <a:r>
              <a:rPr b="0" i="0" lang="en-US" sz="2499" u="none" cap="none" strike="noStrike">
                <a:solidFill>
                  <a:srgbClr val="DEC0F1"/>
                </a:solidFill>
                <a:latin typeface="Nunito Sans"/>
                <a:ea typeface="Nunito Sans"/>
                <a:cs typeface="Nunito Sans"/>
                <a:sym typeface="Nunito Sans"/>
              </a:rPr>
              <a:t>Headers: Nunito Sans Regular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9875" lvl="1" marL="53975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EC0F1"/>
              </a:buClr>
              <a:buSzPts val="2500"/>
              <a:buFont typeface="Arial"/>
              <a:buChar char="•"/>
            </a:pPr>
            <a:r>
              <a:rPr b="0" i="0" lang="en-US" sz="2500" u="none" cap="none" strike="noStrike">
                <a:solidFill>
                  <a:srgbClr val="DEC0F1"/>
                </a:solidFill>
                <a:latin typeface="Nunito Sans"/>
                <a:ea typeface="Nunito Sans"/>
                <a:cs typeface="Nunito Sans"/>
                <a:sym typeface="Nunito Sans"/>
              </a:rPr>
              <a:t>Body Copy: Nunito Sans Regular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g34c237182a4_0_74"/>
          <p:cNvSpPr txBox="1"/>
          <p:nvPr/>
        </p:nvSpPr>
        <p:spPr>
          <a:xfrm>
            <a:off x="559976" y="822125"/>
            <a:ext cx="16647000" cy="12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36"/>
              <a:buFont typeface="Arial"/>
              <a:buNone/>
            </a:pPr>
            <a:r>
              <a:rPr lang="en-US" sz="8336">
                <a:solidFill>
                  <a:srgbClr val="040926"/>
                </a:solidFill>
                <a:latin typeface="Russo One"/>
                <a:ea typeface="Russo One"/>
                <a:cs typeface="Russo One"/>
                <a:sym typeface="Russo One"/>
              </a:rPr>
              <a:t>Algoritmul lui Grover</a:t>
            </a:r>
            <a:endParaRPr b="0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2" name="Google Shape;302;g34c237182a4_0_74"/>
          <p:cNvGrpSpPr/>
          <p:nvPr/>
        </p:nvGrpSpPr>
        <p:grpSpPr>
          <a:xfrm>
            <a:off x="559975" y="3278152"/>
            <a:ext cx="549290" cy="568686"/>
            <a:chOff x="0" y="-28575"/>
            <a:chExt cx="812800" cy="841500"/>
          </a:xfrm>
        </p:grpSpPr>
        <p:sp>
          <p:nvSpPr>
            <p:cNvPr id="303" name="Google Shape;303;g34c237182a4_0_7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40926"/>
            </a:solidFill>
            <a:ln>
              <a:noFill/>
            </a:ln>
          </p:spPr>
        </p:sp>
        <p:sp>
          <p:nvSpPr>
            <p:cNvPr id="304" name="Google Shape;304;g34c237182a4_0_74"/>
            <p:cNvSpPr txBox="1"/>
            <p:nvPr/>
          </p:nvSpPr>
          <p:spPr>
            <a:xfrm>
              <a:off x="0" y="-28575"/>
              <a:ext cx="812700" cy="84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05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5" name="Google Shape;305;g34c237182a4_0_74"/>
          <p:cNvSpPr txBox="1"/>
          <p:nvPr/>
        </p:nvSpPr>
        <p:spPr>
          <a:xfrm>
            <a:off x="1749150" y="3883400"/>
            <a:ext cx="12851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DEC0F1"/>
                </a:solidFill>
                <a:latin typeface="Nunito Sans"/>
                <a:ea typeface="Nunito Sans"/>
                <a:cs typeface="Nunito Sans"/>
                <a:sym typeface="Nunito Sans"/>
              </a:rPr>
              <a:t>Inițializare:</a:t>
            </a:r>
            <a:endParaRPr sz="2000"/>
          </a:p>
        </p:txBody>
      </p:sp>
      <p:grpSp>
        <p:nvGrpSpPr>
          <p:cNvPr id="306" name="Google Shape;306;g34c237182a4_0_74"/>
          <p:cNvGrpSpPr/>
          <p:nvPr/>
        </p:nvGrpSpPr>
        <p:grpSpPr>
          <a:xfrm>
            <a:off x="1333650" y="4025980"/>
            <a:ext cx="342676" cy="361340"/>
            <a:chOff x="0" y="-28575"/>
            <a:chExt cx="812800" cy="841500"/>
          </a:xfrm>
        </p:grpSpPr>
        <p:sp>
          <p:nvSpPr>
            <p:cNvPr id="307" name="Google Shape;307;g34c237182a4_0_7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DEC0F1"/>
            </a:solidFill>
            <a:ln>
              <a:noFill/>
            </a:ln>
          </p:spPr>
        </p:sp>
        <p:sp>
          <p:nvSpPr>
            <p:cNvPr id="308" name="Google Shape;308;g34c237182a4_0_74"/>
            <p:cNvSpPr txBox="1"/>
            <p:nvPr/>
          </p:nvSpPr>
          <p:spPr>
            <a:xfrm>
              <a:off x="0" y="-28575"/>
              <a:ext cx="812700" cy="84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05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9" name="Google Shape;309;g34c237182a4_0_74"/>
          <p:cNvSpPr txBox="1"/>
          <p:nvPr/>
        </p:nvSpPr>
        <p:spPr>
          <a:xfrm>
            <a:off x="1862550" y="4543000"/>
            <a:ext cx="150867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EC0F1"/>
              </a:buClr>
              <a:buSzPts val="2200"/>
              <a:buFont typeface="Nunito Sans"/>
              <a:buChar char="●"/>
            </a:pPr>
            <a:r>
              <a:rPr lang="en-US" sz="2200">
                <a:solidFill>
                  <a:srgbClr val="DEC0F1"/>
                </a:solidFill>
                <a:latin typeface="Nunito Sans"/>
                <a:ea typeface="Nunito Sans"/>
                <a:cs typeface="Nunito Sans"/>
                <a:sym typeface="Nunito Sans"/>
              </a:rPr>
              <a:t>Se aplică Hadamard pe fiecare qubit pentru a crea o stare de suprapunere uniformă.</a:t>
            </a:r>
            <a:br>
              <a:rPr lang="en-US" sz="2200">
                <a:solidFill>
                  <a:srgbClr val="DEC0F1"/>
                </a:solidFill>
                <a:latin typeface="Nunito Sans"/>
                <a:ea typeface="Nunito Sans"/>
                <a:cs typeface="Nunito Sans"/>
                <a:sym typeface="Nunito Sans"/>
              </a:rPr>
            </a:br>
            <a:endParaRPr sz="2200">
              <a:solidFill>
                <a:srgbClr val="DEC0F1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EC0F1"/>
              </a:buClr>
              <a:buSzPts val="2200"/>
              <a:buFont typeface="Nunito Sans"/>
              <a:buChar char="●"/>
            </a:pPr>
            <a:r>
              <a:rPr lang="en-US" sz="2200">
                <a:solidFill>
                  <a:srgbClr val="DEC0F1"/>
                </a:solidFill>
                <a:latin typeface="Nunito Sans"/>
                <a:ea typeface="Nunito Sans"/>
                <a:cs typeface="Nunito Sans"/>
                <a:sym typeface="Nunito Sans"/>
              </a:rPr>
              <a:t>Acest lucru permite explorarea simultană a tuturor soluțiilor posibile.</a:t>
            </a:r>
            <a:endParaRPr sz="300">
              <a:solidFill>
                <a:schemeClr val="dk1"/>
              </a:solidFill>
            </a:endParaRPr>
          </a:p>
        </p:txBody>
      </p:sp>
      <p:sp>
        <p:nvSpPr>
          <p:cNvPr id="310" name="Google Shape;310;g34c237182a4_0_74"/>
          <p:cNvSpPr txBox="1"/>
          <p:nvPr/>
        </p:nvSpPr>
        <p:spPr>
          <a:xfrm>
            <a:off x="1751688" y="5819275"/>
            <a:ext cx="12851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DEC0F1"/>
                </a:solidFill>
                <a:latin typeface="Nunito Sans"/>
                <a:ea typeface="Nunito Sans"/>
                <a:cs typeface="Nunito Sans"/>
                <a:sym typeface="Nunito Sans"/>
              </a:rPr>
              <a:t>Aplicarea Oracolului:</a:t>
            </a:r>
            <a:endParaRPr sz="2000"/>
          </a:p>
        </p:txBody>
      </p:sp>
      <p:grpSp>
        <p:nvGrpSpPr>
          <p:cNvPr id="311" name="Google Shape;311;g34c237182a4_0_74"/>
          <p:cNvGrpSpPr/>
          <p:nvPr/>
        </p:nvGrpSpPr>
        <p:grpSpPr>
          <a:xfrm>
            <a:off x="1336188" y="5961855"/>
            <a:ext cx="342676" cy="361340"/>
            <a:chOff x="0" y="-28575"/>
            <a:chExt cx="812800" cy="841500"/>
          </a:xfrm>
        </p:grpSpPr>
        <p:sp>
          <p:nvSpPr>
            <p:cNvPr id="312" name="Google Shape;312;g34c237182a4_0_7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DEC0F1"/>
            </a:solidFill>
            <a:ln>
              <a:noFill/>
            </a:ln>
          </p:spPr>
        </p:sp>
        <p:sp>
          <p:nvSpPr>
            <p:cNvPr id="313" name="Google Shape;313;g34c237182a4_0_74"/>
            <p:cNvSpPr txBox="1"/>
            <p:nvPr/>
          </p:nvSpPr>
          <p:spPr>
            <a:xfrm>
              <a:off x="0" y="-28575"/>
              <a:ext cx="812700" cy="84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05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4" name="Google Shape;314;g34c237182a4_0_74"/>
          <p:cNvSpPr txBox="1"/>
          <p:nvPr/>
        </p:nvSpPr>
        <p:spPr>
          <a:xfrm>
            <a:off x="1865088" y="6478875"/>
            <a:ext cx="15086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EC0F1"/>
              </a:buClr>
              <a:buSzPts val="2200"/>
              <a:buFont typeface="Nunito Sans"/>
              <a:buChar char="●"/>
            </a:pPr>
            <a:r>
              <a:rPr lang="en-US" sz="2200">
                <a:solidFill>
                  <a:srgbClr val="DEC0F1"/>
                </a:solidFill>
                <a:latin typeface="Nunito Sans"/>
                <a:ea typeface="Nunito Sans"/>
                <a:cs typeface="Nunito Sans"/>
                <a:sym typeface="Nunito Sans"/>
              </a:rPr>
              <a:t>Un circuit cuantic care marchează soluția căutată prin aplicarea unei faze negative.</a:t>
            </a:r>
            <a:endParaRPr sz="300">
              <a:solidFill>
                <a:schemeClr val="dk1"/>
              </a:solidFill>
            </a:endParaRPr>
          </a:p>
        </p:txBody>
      </p:sp>
      <p:sp>
        <p:nvSpPr>
          <p:cNvPr id="315" name="Google Shape;315;g34c237182a4_0_74"/>
          <p:cNvSpPr txBox="1"/>
          <p:nvPr/>
        </p:nvSpPr>
        <p:spPr>
          <a:xfrm>
            <a:off x="1751675" y="7095400"/>
            <a:ext cx="12851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DEC0F1"/>
                </a:solidFill>
                <a:latin typeface="Nunito Sans"/>
                <a:ea typeface="Nunito Sans"/>
                <a:cs typeface="Nunito Sans"/>
                <a:sym typeface="Nunito Sans"/>
              </a:rPr>
              <a:t>Amplificarea amplitudinilor (Difuzia Grover)</a:t>
            </a:r>
            <a:endParaRPr sz="2000"/>
          </a:p>
        </p:txBody>
      </p:sp>
      <p:grpSp>
        <p:nvGrpSpPr>
          <p:cNvPr id="316" name="Google Shape;316;g34c237182a4_0_74"/>
          <p:cNvGrpSpPr/>
          <p:nvPr/>
        </p:nvGrpSpPr>
        <p:grpSpPr>
          <a:xfrm>
            <a:off x="1336175" y="7237980"/>
            <a:ext cx="342676" cy="361340"/>
            <a:chOff x="0" y="-28575"/>
            <a:chExt cx="812800" cy="841500"/>
          </a:xfrm>
        </p:grpSpPr>
        <p:sp>
          <p:nvSpPr>
            <p:cNvPr id="317" name="Google Shape;317;g34c237182a4_0_7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DEC0F1"/>
            </a:solidFill>
            <a:ln>
              <a:noFill/>
            </a:ln>
          </p:spPr>
        </p:sp>
        <p:sp>
          <p:nvSpPr>
            <p:cNvPr id="318" name="Google Shape;318;g34c237182a4_0_74"/>
            <p:cNvSpPr txBox="1"/>
            <p:nvPr/>
          </p:nvSpPr>
          <p:spPr>
            <a:xfrm>
              <a:off x="0" y="-28575"/>
              <a:ext cx="812700" cy="84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05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9" name="Google Shape;319;g34c237182a4_0_74"/>
          <p:cNvSpPr txBox="1"/>
          <p:nvPr/>
        </p:nvSpPr>
        <p:spPr>
          <a:xfrm>
            <a:off x="1865075" y="7755000"/>
            <a:ext cx="150867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DEC0F1"/>
              </a:buClr>
              <a:buSzPts val="2200"/>
              <a:buFont typeface="Nunito Sans"/>
              <a:buChar char="●"/>
            </a:pPr>
            <a:r>
              <a:rPr lang="en-US" sz="2200">
                <a:solidFill>
                  <a:srgbClr val="DEC0F1"/>
                </a:solidFill>
                <a:latin typeface="Nunito Sans"/>
                <a:ea typeface="Nunito Sans"/>
                <a:cs typeface="Nunito Sans"/>
                <a:sym typeface="Nunito Sans"/>
              </a:rPr>
              <a:t>Un operator care crește probabilitatea de a măsura soluția corectă printr-o reflexie față de medie.</a:t>
            </a:r>
            <a:br>
              <a:rPr lang="en-US" sz="2200">
                <a:solidFill>
                  <a:srgbClr val="DEC0F1"/>
                </a:solidFill>
                <a:latin typeface="Nunito Sans"/>
                <a:ea typeface="Nunito Sans"/>
                <a:cs typeface="Nunito Sans"/>
                <a:sym typeface="Nunito Sans"/>
              </a:rPr>
            </a:br>
            <a:endParaRPr sz="2200">
              <a:solidFill>
                <a:srgbClr val="DEC0F1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DEC0F1"/>
              </a:buClr>
              <a:buSzPts val="2200"/>
              <a:buFont typeface="Nunito Sans"/>
              <a:buChar char="●"/>
            </a:pPr>
            <a:r>
              <a:rPr lang="en-US" sz="2200">
                <a:solidFill>
                  <a:srgbClr val="DEC0F1"/>
                </a:solidFill>
                <a:latin typeface="Nunito Sans"/>
                <a:ea typeface="Nunito Sans"/>
                <a:cs typeface="Nunito Sans"/>
                <a:sym typeface="Nunito Sans"/>
              </a:rPr>
              <a:t>Se repetă de O(</a:t>
            </a:r>
            <a:r>
              <a:rPr lang="en-US" sz="2400">
                <a:solidFill>
                  <a:srgbClr val="DEC0F1"/>
                </a:solidFill>
                <a:latin typeface="Nunito Sans"/>
                <a:ea typeface="Nunito Sans"/>
                <a:cs typeface="Nunito Sans"/>
                <a:sym typeface="Nunito Sans"/>
              </a:rPr>
              <a:t>√</a:t>
            </a:r>
            <a:r>
              <a:rPr lang="en-US" sz="2200">
                <a:solidFill>
                  <a:srgbClr val="DEC0F1"/>
                </a:solidFill>
                <a:latin typeface="Nunito Sans"/>
                <a:ea typeface="Nunito Sans"/>
                <a:cs typeface="Nunito Sans"/>
                <a:sym typeface="Nunito Sans"/>
              </a:rPr>
              <a:t>N) ori pentru a maximiza probabilitatea de succes.</a:t>
            </a:r>
            <a:endParaRPr sz="2200">
              <a:solidFill>
                <a:srgbClr val="DEC0F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pic>
        <p:nvPicPr>
          <p:cNvPr id="320" name="Google Shape;320;g34c237182a4_0_74" title="Circuit-block-diagram-of-Grovers-search-algorith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048100" y="3846850"/>
            <a:ext cx="4971450" cy="3199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EC0F1"/>
        </a:solidFill>
      </p:bgPr>
    </p:bg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5" name="Google Shape;325;g34c237182a4_0_144"/>
          <p:cNvGrpSpPr/>
          <p:nvPr/>
        </p:nvGrpSpPr>
        <p:grpSpPr>
          <a:xfrm>
            <a:off x="15745701" y="1"/>
            <a:ext cx="2542311" cy="2520505"/>
            <a:chOff x="0" y="0"/>
            <a:chExt cx="6688533" cy="6662716"/>
          </a:xfrm>
        </p:grpSpPr>
        <p:grpSp>
          <p:nvGrpSpPr>
            <p:cNvPr id="326" name="Google Shape;326;g34c237182a4_0_144"/>
            <p:cNvGrpSpPr/>
            <p:nvPr/>
          </p:nvGrpSpPr>
          <p:grpSpPr>
            <a:xfrm>
              <a:off x="0" y="0"/>
              <a:ext cx="3344266" cy="3344266"/>
              <a:chOff x="0" y="0"/>
              <a:chExt cx="812800" cy="812800"/>
            </a:xfrm>
          </p:grpSpPr>
          <p:sp>
            <p:nvSpPr>
              <p:cNvPr id="327" name="Google Shape;327;g34c237182a4_0_14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040926"/>
              </a:solidFill>
              <a:ln>
                <a:noFill/>
              </a:ln>
            </p:spPr>
          </p:sp>
          <p:sp>
            <p:nvSpPr>
              <p:cNvPr id="328" name="Google Shape;328;g34c237182a4_0_144"/>
              <p:cNvSpPr txBox="1"/>
              <p:nvPr/>
            </p:nvSpPr>
            <p:spPr>
              <a:xfrm>
                <a:off x="0" y="0"/>
                <a:ext cx="812700" cy="812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97111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29" name="Google Shape;329;g34c237182a4_0_144"/>
            <p:cNvGrpSpPr/>
            <p:nvPr/>
          </p:nvGrpSpPr>
          <p:grpSpPr>
            <a:xfrm>
              <a:off x="3344267" y="3318450"/>
              <a:ext cx="3344266" cy="3344266"/>
              <a:chOff x="0" y="0"/>
              <a:chExt cx="812800" cy="812800"/>
            </a:xfrm>
          </p:grpSpPr>
          <p:sp>
            <p:nvSpPr>
              <p:cNvPr id="330" name="Google Shape;330;g34c237182a4_0_14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040926"/>
              </a:solidFill>
              <a:ln>
                <a:noFill/>
              </a:ln>
            </p:spPr>
          </p:sp>
          <p:sp>
            <p:nvSpPr>
              <p:cNvPr id="331" name="Google Shape;331;g34c237182a4_0_144"/>
              <p:cNvSpPr txBox="1"/>
              <p:nvPr/>
            </p:nvSpPr>
            <p:spPr>
              <a:xfrm>
                <a:off x="0" y="0"/>
                <a:ext cx="812700" cy="812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97111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32" name="Google Shape;332;g34c237182a4_0_144"/>
            <p:cNvGrpSpPr/>
            <p:nvPr/>
          </p:nvGrpSpPr>
          <p:grpSpPr>
            <a:xfrm>
              <a:off x="3344267" y="0"/>
              <a:ext cx="3344266" cy="3344266"/>
              <a:chOff x="0" y="0"/>
              <a:chExt cx="812800" cy="812800"/>
            </a:xfrm>
          </p:grpSpPr>
          <p:sp>
            <p:nvSpPr>
              <p:cNvPr id="333" name="Google Shape;333;g34c237182a4_0_14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7D2AE8"/>
              </a:solidFill>
              <a:ln>
                <a:noFill/>
              </a:ln>
            </p:spPr>
          </p:sp>
          <p:sp>
            <p:nvSpPr>
              <p:cNvPr id="334" name="Google Shape;334;g34c237182a4_0_144"/>
              <p:cNvSpPr txBox="1"/>
              <p:nvPr/>
            </p:nvSpPr>
            <p:spPr>
              <a:xfrm>
                <a:off x="0" y="0"/>
                <a:ext cx="812700" cy="812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97111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35" name="Google Shape;335;g34c237182a4_0_144"/>
            <p:cNvGrpSpPr/>
            <p:nvPr/>
          </p:nvGrpSpPr>
          <p:grpSpPr>
            <a:xfrm>
              <a:off x="0" y="3318450"/>
              <a:ext cx="3344266" cy="3344266"/>
              <a:chOff x="0" y="0"/>
              <a:chExt cx="812800" cy="812800"/>
            </a:xfrm>
          </p:grpSpPr>
          <p:sp>
            <p:nvSpPr>
              <p:cNvPr id="336" name="Google Shape;336;g34c237182a4_0_14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7D2AE8"/>
              </a:solidFill>
              <a:ln>
                <a:noFill/>
              </a:ln>
            </p:spPr>
          </p:sp>
          <p:sp>
            <p:nvSpPr>
              <p:cNvPr id="337" name="Google Shape;337;g34c237182a4_0_144"/>
              <p:cNvSpPr txBox="1"/>
              <p:nvPr/>
            </p:nvSpPr>
            <p:spPr>
              <a:xfrm>
                <a:off x="0" y="0"/>
                <a:ext cx="812700" cy="812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97111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id="338" name="Google Shape;338;g34c237182a4_0_1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147185" y="64500"/>
            <a:ext cx="987050" cy="1137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g34c237182a4_0_1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825141" y="1324949"/>
            <a:ext cx="1124220" cy="1118925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g34c237182a4_0_144"/>
          <p:cNvSpPr txBox="1"/>
          <p:nvPr/>
        </p:nvSpPr>
        <p:spPr>
          <a:xfrm>
            <a:off x="559983" y="8680450"/>
            <a:ext cx="11843400" cy="12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DEC0F1"/>
                </a:solidFill>
                <a:latin typeface="Nunito Sans"/>
                <a:ea typeface="Nunito Sans"/>
                <a:cs typeface="Nunito Sans"/>
                <a:sym typeface="Nunito Sans"/>
              </a:rPr>
              <a:t>You can find these fonts online too.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DEC0F1"/>
                </a:solidFill>
                <a:latin typeface="Nunito Sans"/>
                <a:ea typeface="Nunito Sans"/>
                <a:cs typeface="Nunito Sans"/>
                <a:sym typeface="Nunito Sans"/>
              </a:rPr>
              <a:t>Happy designing!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41" name="Google Shape;341;g34c237182a4_0_144"/>
          <p:cNvGrpSpPr/>
          <p:nvPr/>
        </p:nvGrpSpPr>
        <p:grpSpPr>
          <a:xfrm>
            <a:off x="-75" y="2401986"/>
            <a:ext cx="18288130" cy="7766289"/>
            <a:chOff x="-893" y="-28575"/>
            <a:chExt cx="3411710" cy="1344509"/>
          </a:xfrm>
        </p:grpSpPr>
        <p:sp>
          <p:nvSpPr>
            <p:cNvPr id="342" name="Google Shape;342;g34c237182a4_0_144"/>
            <p:cNvSpPr/>
            <p:nvPr/>
          </p:nvSpPr>
          <p:spPr>
            <a:xfrm>
              <a:off x="-893" y="-9"/>
              <a:ext cx="3411710" cy="1315943"/>
            </a:xfrm>
            <a:custGeom>
              <a:rect b="b" l="l" r="r" t="t"/>
              <a:pathLst>
                <a:path extrusionOk="0" h="1315943" w="3411710">
                  <a:moveTo>
                    <a:pt x="0" y="0"/>
                  </a:moveTo>
                  <a:lnTo>
                    <a:pt x="3411710" y="0"/>
                  </a:lnTo>
                  <a:lnTo>
                    <a:pt x="3411710" y="1315943"/>
                  </a:lnTo>
                  <a:lnTo>
                    <a:pt x="0" y="1315943"/>
                  </a:lnTo>
                  <a:close/>
                </a:path>
              </a:pathLst>
            </a:custGeom>
            <a:solidFill>
              <a:srgbClr val="7D2AE8"/>
            </a:solidFill>
            <a:ln>
              <a:noFill/>
            </a:ln>
          </p:spPr>
        </p:sp>
        <p:sp>
          <p:nvSpPr>
            <p:cNvPr id="343" name="Google Shape;343;g34c237182a4_0_144"/>
            <p:cNvSpPr txBox="1"/>
            <p:nvPr/>
          </p:nvSpPr>
          <p:spPr>
            <a:xfrm>
              <a:off x="0" y="-28575"/>
              <a:ext cx="812700" cy="84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05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4" name="Google Shape;344;g34c237182a4_0_144"/>
          <p:cNvSpPr txBox="1"/>
          <p:nvPr/>
        </p:nvSpPr>
        <p:spPr>
          <a:xfrm>
            <a:off x="1353350" y="3047775"/>
            <a:ext cx="11843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n-US" sz="4000">
                <a:solidFill>
                  <a:srgbClr val="DEC0F1"/>
                </a:solidFill>
                <a:latin typeface="Nunito Sans"/>
                <a:ea typeface="Nunito Sans"/>
                <a:cs typeface="Nunito Sans"/>
                <a:sym typeface="Nunito Sans"/>
              </a:rPr>
              <a:t>Transformarea Hadamard</a:t>
            </a:r>
            <a:endParaRPr sz="4000">
              <a:solidFill>
                <a:srgbClr val="DEC0F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345" name="Google Shape;345;g34c237182a4_0_144"/>
          <p:cNvSpPr txBox="1"/>
          <p:nvPr/>
        </p:nvSpPr>
        <p:spPr>
          <a:xfrm>
            <a:off x="-604900" y="10978249"/>
            <a:ext cx="11843400" cy="14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69873" lvl="1" marL="539748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DEC0F1"/>
              </a:buClr>
              <a:buSzPts val="2499"/>
              <a:buFont typeface="Arial"/>
              <a:buChar char="•"/>
            </a:pPr>
            <a:r>
              <a:rPr b="0" i="0" lang="en-US" sz="2499" u="none" cap="none" strike="noStrike">
                <a:solidFill>
                  <a:srgbClr val="DEC0F1"/>
                </a:solidFill>
                <a:latin typeface="Nunito Sans"/>
                <a:ea typeface="Nunito Sans"/>
                <a:cs typeface="Nunito Sans"/>
                <a:sym typeface="Nunito Sans"/>
              </a:rPr>
              <a:t>Titles: Russo One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9873" lvl="1" marL="539748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DEC0F1"/>
              </a:buClr>
              <a:buSzPts val="2499"/>
              <a:buFont typeface="Arial"/>
              <a:buChar char="•"/>
            </a:pPr>
            <a:r>
              <a:rPr b="0" i="0" lang="en-US" sz="2499" u="none" cap="none" strike="noStrike">
                <a:solidFill>
                  <a:srgbClr val="DEC0F1"/>
                </a:solidFill>
                <a:latin typeface="Nunito Sans"/>
                <a:ea typeface="Nunito Sans"/>
                <a:cs typeface="Nunito Sans"/>
                <a:sym typeface="Nunito Sans"/>
              </a:rPr>
              <a:t>Headers: Nunito Sans Regular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9875" lvl="1" marL="53975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EC0F1"/>
              </a:buClr>
              <a:buSzPts val="2500"/>
              <a:buFont typeface="Arial"/>
              <a:buChar char="•"/>
            </a:pPr>
            <a:r>
              <a:rPr b="0" i="0" lang="en-US" sz="2500" u="none" cap="none" strike="noStrike">
                <a:solidFill>
                  <a:srgbClr val="DEC0F1"/>
                </a:solidFill>
                <a:latin typeface="Nunito Sans"/>
                <a:ea typeface="Nunito Sans"/>
                <a:cs typeface="Nunito Sans"/>
                <a:sym typeface="Nunito Sans"/>
              </a:rPr>
              <a:t>Body Copy: Nunito Sans Regular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g34c237182a4_0_144"/>
          <p:cNvSpPr txBox="1"/>
          <p:nvPr/>
        </p:nvSpPr>
        <p:spPr>
          <a:xfrm>
            <a:off x="559976" y="822125"/>
            <a:ext cx="16647000" cy="12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36"/>
              <a:buFont typeface="Arial"/>
              <a:buNone/>
            </a:pPr>
            <a:r>
              <a:rPr lang="en-US" sz="8336">
                <a:solidFill>
                  <a:srgbClr val="040926"/>
                </a:solidFill>
                <a:latin typeface="Russo One"/>
                <a:ea typeface="Russo One"/>
                <a:cs typeface="Russo One"/>
                <a:sym typeface="Russo One"/>
              </a:rPr>
              <a:t>Matematica Algoritmului</a:t>
            </a:r>
            <a:endParaRPr sz="8336">
              <a:solidFill>
                <a:srgbClr val="040926"/>
              </a:solidFill>
              <a:latin typeface="Russo One"/>
              <a:ea typeface="Russo One"/>
              <a:cs typeface="Russo One"/>
              <a:sym typeface="Russo One"/>
            </a:endParaRPr>
          </a:p>
        </p:txBody>
      </p:sp>
      <p:grpSp>
        <p:nvGrpSpPr>
          <p:cNvPr id="347" name="Google Shape;347;g34c237182a4_0_144"/>
          <p:cNvGrpSpPr/>
          <p:nvPr/>
        </p:nvGrpSpPr>
        <p:grpSpPr>
          <a:xfrm>
            <a:off x="559975" y="3071227"/>
            <a:ext cx="549290" cy="568686"/>
            <a:chOff x="0" y="-28575"/>
            <a:chExt cx="812800" cy="841500"/>
          </a:xfrm>
        </p:grpSpPr>
        <p:sp>
          <p:nvSpPr>
            <p:cNvPr id="348" name="Google Shape;348;g34c237182a4_0_14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40926"/>
            </a:solidFill>
            <a:ln>
              <a:noFill/>
            </a:ln>
          </p:spPr>
        </p:sp>
        <p:sp>
          <p:nvSpPr>
            <p:cNvPr id="349" name="Google Shape;349;g34c237182a4_0_144"/>
            <p:cNvSpPr txBox="1"/>
            <p:nvPr/>
          </p:nvSpPr>
          <p:spPr>
            <a:xfrm>
              <a:off x="0" y="-28575"/>
              <a:ext cx="812700" cy="84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05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0" name="Google Shape;350;g34c237182a4_0_144"/>
          <p:cNvSpPr txBox="1"/>
          <p:nvPr/>
        </p:nvSpPr>
        <p:spPr>
          <a:xfrm>
            <a:off x="1204700" y="4387825"/>
            <a:ext cx="15086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EC0F1"/>
              </a:buClr>
              <a:buSzPts val="2200"/>
              <a:buFont typeface="Nunito Sans"/>
              <a:buChar char="●"/>
            </a:pPr>
            <a:r>
              <a:rPr lang="en-US" sz="2200">
                <a:solidFill>
                  <a:srgbClr val="DEC0F1"/>
                </a:solidFill>
                <a:latin typeface="Nunito Sans"/>
                <a:ea typeface="Nunito Sans"/>
                <a:cs typeface="Nunito Sans"/>
                <a:sym typeface="Nunito Sans"/>
              </a:rPr>
              <a:t>Aplicând H pe ‘n’ qubiți, obținem o distribuție uniformă.</a:t>
            </a:r>
            <a:endParaRPr sz="300">
              <a:solidFill>
                <a:schemeClr val="dk1"/>
              </a:solidFill>
            </a:endParaRPr>
          </a:p>
        </p:txBody>
      </p:sp>
      <p:pic>
        <p:nvPicPr>
          <p:cNvPr id="351" name="Google Shape;351;g34c237182a4_0_14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24426" y="3759450"/>
            <a:ext cx="3404196" cy="669675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g34c237182a4_0_144"/>
          <p:cNvSpPr txBox="1"/>
          <p:nvPr/>
        </p:nvSpPr>
        <p:spPr>
          <a:xfrm>
            <a:off x="1204700" y="5977313"/>
            <a:ext cx="11843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n-US" sz="4000">
                <a:solidFill>
                  <a:srgbClr val="DEC0F1"/>
                </a:solidFill>
                <a:latin typeface="Nunito Sans"/>
                <a:ea typeface="Nunito Sans"/>
                <a:cs typeface="Nunito Sans"/>
                <a:sym typeface="Nunito Sans"/>
              </a:rPr>
              <a:t>Funcția Oracol</a:t>
            </a:r>
            <a:endParaRPr sz="4000">
              <a:solidFill>
                <a:srgbClr val="DEC0F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grpSp>
        <p:nvGrpSpPr>
          <p:cNvPr id="353" name="Google Shape;353;g34c237182a4_0_144"/>
          <p:cNvGrpSpPr/>
          <p:nvPr/>
        </p:nvGrpSpPr>
        <p:grpSpPr>
          <a:xfrm>
            <a:off x="559975" y="6000764"/>
            <a:ext cx="549290" cy="568686"/>
            <a:chOff x="0" y="-28575"/>
            <a:chExt cx="812800" cy="841500"/>
          </a:xfrm>
        </p:grpSpPr>
        <p:sp>
          <p:nvSpPr>
            <p:cNvPr id="354" name="Google Shape;354;g34c237182a4_0_14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40926"/>
            </a:solidFill>
            <a:ln>
              <a:noFill/>
            </a:ln>
          </p:spPr>
        </p:sp>
        <p:sp>
          <p:nvSpPr>
            <p:cNvPr id="355" name="Google Shape;355;g34c237182a4_0_144"/>
            <p:cNvSpPr txBox="1"/>
            <p:nvPr/>
          </p:nvSpPr>
          <p:spPr>
            <a:xfrm>
              <a:off x="0" y="-28575"/>
              <a:ext cx="812700" cy="84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05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6" name="Google Shape;356;g34c237182a4_0_144"/>
          <p:cNvSpPr txBox="1"/>
          <p:nvPr/>
        </p:nvSpPr>
        <p:spPr>
          <a:xfrm>
            <a:off x="1204700" y="6592913"/>
            <a:ext cx="15086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EC0F1"/>
              </a:buClr>
              <a:buSzPts val="2200"/>
              <a:buFont typeface="Nunito Sans"/>
              <a:buChar char="●"/>
            </a:pPr>
            <a:r>
              <a:rPr lang="en-US" sz="2200">
                <a:solidFill>
                  <a:srgbClr val="DEC0F1"/>
                </a:solidFill>
                <a:latin typeface="Nunito Sans"/>
                <a:ea typeface="Nunito Sans"/>
                <a:cs typeface="Nunito Sans"/>
                <a:sym typeface="Nunito Sans"/>
              </a:rPr>
              <a:t>Oracolul aplică o fază negativă elementului căutat.</a:t>
            </a:r>
            <a:endParaRPr sz="300">
              <a:solidFill>
                <a:schemeClr val="dk1"/>
              </a:solidFill>
            </a:endParaRPr>
          </a:p>
        </p:txBody>
      </p:sp>
      <p:pic>
        <p:nvPicPr>
          <p:cNvPr id="357" name="Google Shape;357;g34c237182a4_0_14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424375" y="7091237"/>
            <a:ext cx="2821519" cy="615600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g34c237182a4_0_144"/>
          <p:cNvSpPr txBox="1"/>
          <p:nvPr/>
        </p:nvSpPr>
        <p:spPr>
          <a:xfrm>
            <a:off x="1204700" y="7960213"/>
            <a:ext cx="11843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n-US" sz="4000">
                <a:solidFill>
                  <a:srgbClr val="DEC0F1"/>
                </a:solidFill>
                <a:latin typeface="Nunito Sans"/>
                <a:ea typeface="Nunito Sans"/>
                <a:cs typeface="Nunito Sans"/>
                <a:sym typeface="Nunito Sans"/>
              </a:rPr>
              <a:t>Amplificarea amplitudinilor</a:t>
            </a:r>
            <a:endParaRPr sz="4000">
              <a:solidFill>
                <a:srgbClr val="DEC0F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grpSp>
        <p:nvGrpSpPr>
          <p:cNvPr id="359" name="Google Shape;359;g34c237182a4_0_144"/>
          <p:cNvGrpSpPr/>
          <p:nvPr/>
        </p:nvGrpSpPr>
        <p:grpSpPr>
          <a:xfrm>
            <a:off x="559975" y="7983664"/>
            <a:ext cx="549290" cy="568686"/>
            <a:chOff x="0" y="-28575"/>
            <a:chExt cx="812800" cy="841500"/>
          </a:xfrm>
        </p:grpSpPr>
        <p:sp>
          <p:nvSpPr>
            <p:cNvPr id="360" name="Google Shape;360;g34c237182a4_0_14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40926"/>
            </a:solidFill>
            <a:ln>
              <a:noFill/>
            </a:ln>
          </p:spPr>
        </p:sp>
        <p:sp>
          <p:nvSpPr>
            <p:cNvPr id="361" name="Google Shape;361;g34c237182a4_0_144"/>
            <p:cNvSpPr txBox="1"/>
            <p:nvPr/>
          </p:nvSpPr>
          <p:spPr>
            <a:xfrm>
              <a:off x="0" y="-28575"/>
              <a:ext cx="812700" cy="84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05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2" name="Google Shape;362;g34c237182a4_0_144"/>
          <p:cNvSpPr txBox="1"/>
          <p:nvPr/>
        </p:nvSpPr>
        <p:spPr>
          <a:xfrm>
            <a:off x="1204700" y="8575813"/>
            <a:ext cx="15086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EC0F1"/>
              </a:buClr>
              <a:buSzPts val="2200"/>
              <a:buFont typeface="Nunito Sans"/>
              <a:buChar char="●"/>
            </a:pPr>
            <a:r>
              <a:rPr lang="en-US" sz="2200">
                <a:solidFill>
                  <a:srgbClr val="DEC0F1"/>
                </a:solidFill>
                <a:latin typeface="Nunito Sans"/>
                <a:ea typeface="Nunito Sans"/>
                <a:cs typeface="Nunito Sans"/>
                <a:sym typeface="Nunito Sans"/>
              </a:rPr>
              <a:t>Se aplică operatorul de difuzie Grover:</a:t>
            </a:r>
            <a:endParaRPr sz="300">
              <a:solidFill>
                <a:schemeClr val="dk1"/>
              </a:solidFill>
            </a:endParaRPr>
          </a:p>
        </p:txBody>
      </p:sp>
      <p:pic>
        <p:nvPicPr>
          <p:cNvPr id="363" name="Google Shape;363;g34c237182a4_0_14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353362" y="9113788"/>
            <a:ext cx="4527692" cy="52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4" name="Google Shape;364;g34c237182a4_0_14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2006499" y="4215314"/>
            <a:ext cx="3404200" cy="4652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" name="Google Shape;365;g34c237182a4_0_144" title="615c924f06c94e4e5c46b408_maxresdefault.jpe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9137337" y="4215312"/>
            <a:ext cx="8712787" cy="4652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66" name="Google Shape;366;g34c237182a4_0_144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424425" y="4943187"/>
            <a:ext cx="3693071" cy="868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" presetSubtype="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D2AE8"/>
        </a:solidFill>
      </p:bgPr>
    </p:bg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4c237182a4_0_1314"/>
          <p:cNvSpPr txBox="1"/>
          <p:nvPr/>
        </p:nvSpPr>
        <p:spPr>
          <a:xfrm>
            <a:off x="559972" y="6516850"/>
            <a:ext cx="13046100" cy="33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0"/>
              <a:buFont typeface="Arial"/>
              <a:buNone/>
            </a:pPr>
            <a:r>
              <a:rPr lang="en-US" sz="11000">
                <a:solidFill>
                  <a:srgbClr val="DEC0F1"/>
                </a:solidFill>
                <a:latin typeface="Russo One"/>
                <a:ea typeface="Russo One"/>
                <a:cs typeface="Russo One"/>
                <a:sym typeface="Russo One"/>
              </a:rPr>
              <a:t>Demonstratie</a:t>
            </a:r>
            <a:endParaRPr sz="11000">
              <a:solidFill>
                <a:srgbClr val="DEC0F1"/>
              </a:solidFill>
              <a:latin typeface="Russo One"/>
              <a:ea typeface="Russo One"/>
              <a:cs typeface="Russo One"/>
              <a:sym typeface="Russo On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0"/>
              <a:buFont typeface="Arial"/>
              <a:buNone/>
            </a:pPr>
            <a:r>
              <a:rPr lang="en-US" sz="11000">
                <a:solidFill>
                  <a:srgbClr val="DEC0F1"/>
                </a:solidFill>
                <a:latin typeface="Russo One"/>
                <a:ea typeface="Russo One"/>
                <a:cs typeface="Russo One"/>
                <a:sym typeface="Russo One"/>
              </a:rPr>
              <a:t>Vizuală</a:t>
            </a:r>
            <a:endParaRPr sz="11000">
              <a:solidFill>
                <a:srgbClr val="DEC0F1"/>
              </a:solidFill>
              <a:latin typeface="Russo One"/>
              <a:ea typeface="Russo One"/>
              <a:cs typeface="Russo One"/>
              <a:sym typeface="Russo One"/>
            </a:endParaRPr>
          </a:p>
        </p:txBody>
      </p:sp>
      <p:grpSp>
        <p:nvGrpSpPr>
          <p:cNvPr id="372" name="Google Shape;372;g34c237182a4_0_1314"/>
          <p:cNvGrpSpPr/>
          <p:nvPr/>
        </p:nvGrpSpPr>
        <p:grpSpPr>
          <a:xfrm rot="5400000">
            <a:off x="14774458" y="6794"/>
            <a:ext cx="3520336" cy="3506748"/>
            <a:chOff x="0" y="0"/>
            <a:chExt cx="4693781" cy="4675664"/>
          </a:xfrm>
        </p:grpSpPr>
        <p:grpSp>
          <p:nvGrpSpPr>
            <p:cNvPr id="373" name="Google Shape;373;g34c237182a4_0_1314"/>
            <p:cNvGrpSpPr/>
            <p:nvPr/>
          </p:nvGrpSpPr>
          <p:grpSpPr>
            <a:xfrm>
              <a:off x="0" y="0"/>
              <a:ext cx="2346879" cy="2346879"/>
              <a:chOff x="0" y="0"/>
              <a:chExt cx="812800" cy="812800"/>
            </a:xfrm>
          </p:grpSpPr>
          <p:sp>
            <p:nvSpPr>
              <p:cNvPr id="374" name="Google Shape;374;g34c237182a4_0_13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040926"/>
              </a:solidFill>
              <a:ln>
                <a:noFill/>
              </a:ln>
            </p:spPr>
          </p:sp>
          <p:sp>
            <p:nvSpPr>
              <p:cNvPr id="375" name="Google Shape;375;g34c237182a4_0_1314"/>
              <p:cNvSpPr txBox="1"/>
              <p:nvPr/>
            </p:nvSpPr>
            <p:spPr>
              <a:xfrm>
                <a:off x="0" y="0"/>
                <a:ext cx="812700" cy="812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97166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76" name="Google Shape;376;g34c237182a4_0_1314"/>
            <p:cNvGrpSpPr/>
            <p:nvPr/>
          </p:nvGrpSpPr>
          <p:grpSpPr>
            <a:xfrm>
              <a:off x="2346902" y="2328785"/>
              <a:ext cx="2346879" cy="2346879"/>
              <a:chOff x="0" y="0"/>
              <a:chExt cx="812800" cy="812800"/>
            </a:xfrm>
          </p:grpSpPr>
          <p:sp>
            <p:nvSpPr>
              <p:cNvPr id="377" name="Google Shape;377;g34c237182a4_0_13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040926"/>
              </a:solidFill>
              <a:ln>
                <a:noFill/>
              </a:ln>
            </p:spPr>
          </p:sp>
          <p:sp>
            <p:nvSpPr>
              <p:cNvPr id="378" name="Google Shape;378;g34c237182a4_0_1314"/>
              <p:cNvSpPr txBox="1"/>
              <p:nvPr/>
            </p:nvSpPr>
            <p:spPr>
              <a:xfrm>
                <a:off x="0" y="0"/>
                <a:ext cx="812700" cy="812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97166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79" name="Google Shape;379;g34c237182a4_0_1314"/>
            <p:cNvGrpSpPr/>
            <p:nvPr/>
          </p:nvGrpSpPr>
          <p:grpSpPr>
            <a:xfrm>
              <a:off x="2346902" y="0"/>
              <a:ext cx="2346879" cy="2346879"/>
              <a:chOff x="0" y="0"/>
              <a:chExt cx="812800" cy="812800"/>
            </a:xfrm>
          </p:grpSpPr>
          <p:sp>
            <p:nvSpPr>
              <p:cNvPr id="380" name="Google Shape;380;g34c237182a4_0_13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7D2AE8"/>
              </a:solidFill>
              <a:ln>
                <a:noFill/>
              </a:ln>
            </p:spPr>
          </p:sp>
          <p:sp>
            <p:nvSpPr>
              <p:cNvPr id="381" name="Google Shape;381;g34c237182a4_0_1314"/>
              <p:cNvSpPr txBox="1"/>
              <p:nvPr/>
            </p:nvSpPr>
            <p:spPr>
              <a:xfrm>
                <a:off x="0" y="0"/>
                <a:ext cx="812700" cy="812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97166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82" name="Google Shape;382;g34c237182a4_0_1314"/>
            <p:cNvGrpSpPr/>
            <p:nvPr/>
          </p:nvGrpSpPr>
          <p:grpSpPr>
            <a:xfrm>
              <a:off x="0" y="2328785"/>
              <a:ext cx="2346879" cy="2346879"/>
              <a:chOff x="0" y="0"/>
              <a:chExt cx="812800" cy="812800"/>
            </a:xfrm>
          </p:grpSpPr>
          <p:sp>
            <p:nvSpPr>
              <p:cNvPr id="383" name="Google Shape;383;g34c237182a4_0_13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7D2AE8"/>
              </a:solidFill>
              <a:ln>
                <a:noFill/>
              </a:ln>
            </p:spPr>
          </p:sp>
          <p:sp>
            <p:nvSpPr>
              <p:cNvPr id="384" name="Google Shape;384;g34c237182a4_0_1314"/>
              <p:cNvSpPr txBox="1"/>
              <p:nvPr/>
            </p:nvSpPr>
            <p:spPr>
              <a:xfrm>
                <a:off x="0" y="0"/>
                <a:ext cx="812700" cy="812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97166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85" name="Google Shape;385;g34c237182a4_0_1314"/>
          <p:cNvGrpSpPr/>
          <p:nvPr/>
        </p:nvGrpSpPr>
        <p:grpSpPr>
          <a:xfrm rot="5400000">
            <a:off x="14774458" y="3527148"/>
            <a:ext cx="3520336" cy="3506748"/>
            <a:chOff x="0" y="0"/>
            <a:chExt cx="4693781" cy="4675664"/>
          </a:xfrm>
        </p:grpSpPr>
        <p:grpSp>
          <p:nvGrpSpPr>
            <p:cNvPr id="386" name="Google Shape;386;g34c237182a4_0_1314"/>
            <p:cNvGrpSpPr/>
            <p:nvPr/>
          </p:nvGrpSpPr>
          <p:grpSpPr>
            <a:xfrm>
              <a:off x="0" y="0"/>
              <a:ext cx="2346879" cy="2346879"/>
              <a:chOff x="0" y="0"/>
              <a:chExt cx="812800" cy="812800"/>
            </a:xfrm>
          </p:grpSpPr>
          <p:sp>
            <p:nvSpPr>
              <p:cNvPr id="387" name="Google Shape;387;g34c237182a4_0_13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040926"/>
              </a:solidFill>
              <a:ln>
                <a:noFill/>
              </a:ln>
            </p:spPr>
          </p:sp>
          <p:sp>
            <p:nvSpPr>
              <p:cNvPr id="388" name="Google Shape;388;g34c237182a4_0_1314"/>
              <p:cNvSpPr txBox="1"/>
              <p:nvPr/>
            </p:nvSpPr>
            <p:spPr>
              <a:xfrm>
                <a:off x="0" y="0"/>
                <a:ext cx="812700" cy="812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97166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89" name="Google Shape;389;g34c237182a4_0_1314"/>
            <p:cNvGrpSpPr/>
            <p:nvPr/>
          </p:nvGrpSpPr>
          <p:grpSpPr>
            <a:xfrm>
              <a:off x="2346902" y="2328785"/>
              <a:ext cx="2346879" cy="2346879"/>
              <a:chOff x="0" y="0"/>
              <a:chExt cx="812800" cy="812800"/>
            </a:xfrm>
          </p:grpSpPr>
          <p:sp>
            <p:nvSpPr>
              <p:cNvPr id="390" name="Google Shape;390;g34c237182a4_0_13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040926"/>
              </a:solidFill>
              <a:ln>
                <a:noFill/>
              </a:ln>
            </p:spPr>
          </p:sp>
          <p:sp>
            <p:nvSpPr>
              <p:cNvPr id="391" name="Google Shape;391;g34c237182a4_0_1314"/>
              <p:cNvSpPr txBox="1"/>
              <p:nvPr/>
            </p:nvSpPr>
            <p:spPr>
              <a:xfrm>
                <a:off x="0" y="0"/>
                <a:ext cx="812700" cy="812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97166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92" name="Google Shape;392;g34c237182a4_0_1314"/>
            <p:cNvGrpSpPr/>
            <p:nvPr/>
          </p:nvGrpSpPr>
          <p:grpSpPr>
            <a:xfrm>
              <a:off x="2346902" y="0"/>
              <a:ext cx="2346879" cy="2346879"/>
              <a:chOff x="0" y="0"/>
              <a:chExt cx="812800" cy="812800"/>
            </a:xfrm>
          </p:grpSpPr>
          <p:sp>
            <p:nvSpPr>
              <p:cNvPr id="393" name="Google Shape;393;g34c237182a4_0_13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7D2AE8"/>
              </a:solidFill>
              <a:ln>
                <a:noFill/>
              </a:ln>
            </p:spPr>
          </p:sp>
          <p:sp>
            <p:nvSpPr>
              <p:cNvPr id="394" name="Google Shape;394;g34c237182a4_0_1314"/>
              <p:cNvSpPr txBox="1"/>
              <p:nvPr/>
            </p:nvSpPr>
            <p:spPr>
              <a:xfrm>
                <a:off x="0" y="0"/>
                <a:ext cx="812700" cy="812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97166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95" name="Google Shape;395;g34c237182a4_0_1314"/>
            <p:cNvGrpSpPr/>
            <p:nvPr/>
          </p:nvGrpSpPr>
          <p:grpSpPr>
            <a:xfrm>
              <a:off x="0" y="2328785"/>
              <a:ext cx="2346879" cy="2346879"/>
              <a:chOff x="0" y="0"/>
              <a:chExt cx="812800" cy="812800"/>
            </a:xfrm>
          </p:grpSpPr>
          <p:sp>
            <p:nvSpPr>
              <p:cNvPr id="396" name="Google Shape;396;g34c237182a4_0_13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7D2AE8"/>
              </a:solidFill>
              <a:ln>
                <a:noFill/>
              </a:ln>
            </p:spPr>
          </p:sp>
          <p:sp>
            <p:nvSpPr>
              <p:cNvPr id="397" name="Google Shape;397;g34c237182a4_0_1314"/>
              <p:cNvSpPr txBox="1"/>
              <p:nvPr/>
            </p:nvSpPr>
            <p:spPr>
              <a:xfrm>
                <a:off x="0" y="0"/>
                <a:ext cx="812700" cy="812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97166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98" name="Google Shape;398;g34c237182a4_0_1314"/>
          <p:cNvGrpSpPr/>
          <p:nvPr/>
        </p:nvGrpSpPr>
        <p:grpSpPr>
          <a:xfrm>
            <a:off x="564150" y="1737195"/>
            <a:ext cx="2873085" cy="2974534"/>
            <a:chOff x="0" y="-28575"/>
            <a:chExt cx="812800" cy="841500"/>
          </a:xfrm>
        </p:grpSpPr>
        <p:sp>
          <p:nvSpPr>
            <p:cNvPr id="399" name="Google Shape;399;g34c237182a4_0_131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DEC0F1"/>
            </a:solidFill>
            <a:ln>
              <a:noFill/>
            </a:ln>
          </p:spPr>
        </p:sp>
        <p:sp>
          <p:nvSpPr>
            <p:cNvPr id="400" name="Google Shape;400;g34c237182a4_0_1314"/>
            <p:cNvSpPr txBox="1"/>
            <p:nvPr/>
          </p:nvSpPr>
          <p:spPr>
            <a:xfrm>
              <a:off x="0" y="-28575"/>
              <a:ext cx="812700" cy="84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05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401" name="Google Shape;401;g34c237182a4_0_13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810453" y="2079511"/>
            <a:ext cx="2380520" cy="238052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02" name="Google Shape;402;g34c237182a4_0_1314"/>
          <p:cNvGrpSpPr/>
          <p:nvPr/>
        </p:nvGrpSpPr>
        <p:grpSpPr>
          <a:xfrm rot="5400000">
            <a:off x="14774458" y="7047501"/>
            <a:ext cx="3520336" cy="3506748"/>
            <a:chOff x="0" y="0"/>
            <a:chExt cx="4693781" cy="4675664"/>
          </a:xfrm>
        </p:grpSpPr>
        <p:grpSp>
          <p:nvGrpSpPr>
            <p:cNvPr id="403" name="Google Shape;403;g34c237182a4_0_1314"/>
            <p:cNvGrpSpPr/>
            <p:nvPr/>
          </p:nvGrpSpPr>
          <p:grpSpPr>
            <a:xfrm>
              <a:off x="0" y="0"/>
              <a:ext cx="2346879" cy="2346879"/>
              <a:chOff x="0" y="0"/>
              <a:chExt cx="812800" cy="812800"/>
            </a:xfrm>
          </p:grpSpPr>
          <p:sp>
            <p:nvSpPr>
              <p:cNvPr id="404" name="Google Shape;404;g34c237182a4_0_13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040926"/>
              </a:solidFill>
              <a:ln>
                <a:noFill/>
              </a:ln>
            </p:spPr>
          </p:sp>
          <p:sp>
            <p:nvSpPr>
              <p:cNvPr id="405" name="Google Shape;405;g34c237182a4_0_1314"/>
              <p:cNvSpPr txBox="1"/>
              <p:nvPr/>
            </p:nvSpPr>
            <p:spPr>
              <a:xfrm>
                <a:off x="0" y="0"/>
                <a:ext cx="812700" cy="812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97166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06" name="Google Shape;406;g34c237182a4_0_1314"/>
            <p:cNvGrpSpPr/>
            <p:nvPr/>
          </p:nvGrpSpPr>
          <p:grpSpPr>
            <a:xfrm>
              <a:off x="2346902" y="2328785"/>
              <a:ext cx="2346879" cy="2346879"/>
              <a:chOff x="0" y="0"/>
              <a:chExt cx="812800" cy="812800"/>
            </a:xfrm>
          </p:grpSpPr>
          <p:sp>
            <p:nvSpPr>
              <p:cNvPr id="407" name="Google Shape;407;g34c237182a4_0_13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040926"/>
              </a:solidFill>
              <a:ln>
                <a:noFill/>
              </a:ln>
            </p:spPr>
          </p:sp>
          <p:sp>
            <p:nvSpPr>
              <p:cNvPr id="408" name="Google Shape;408;g34c237182a4_0_1314"/>
              <p:cNvSpPr txBox="1"/>
              <p:nvPr/>
            </p:nvSpPr>
            <p:spPr>
              <a:xfrm>
                <a:off x="0" y="0"/>
                <a:ext cx="812700" cy="812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97166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09" name="Google Shape;409;g34c237182a4_0_1314"/>
            <p:cNvGrpSpPr/>
            <p:nvPr/>
          </p:nvGrpSpPr>
          <p:grpSpPr>
            <a:xfrm>
              <a:off x="2346902" y="0"/>
              <a:ext cx="2346879" cy="2346879"/>
              <a:chOff x="0" y="0"/>
              <a:chExt cx="812800" cy="812800"/>
            </a:xfrm>
          </p:grpSpPr>
          <p:sp>
            <p:nvSpPr>
              <p:cNvPr id="410" name="Google Shape;410;g34c237182a4_0_13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7D2AE8"/>
              </a:solidFill>
              <a:ln>
                <a:noFill/>
              </a:ln>
            </p:spPr>
          </p:sp>
          <p:sp>
            <p:nvSpPr>
              <p:cNvPr id="411" name="Google Shape;411;g34c237182a4_0_1314"/>
              <p:cNvSpPr txBox="1"/>
              <p:nvPr/>
            </p:nvSpPr>
            <p:spPr>
              <a:xfrm>
                <a:off x="0" y="0"/>
                <a:ext cx="812700" cy="812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97166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12" name="Google Shape;412;g34c237182a4_0_1314"/>
            <p:cNvGrpSpPr/>
            <p:nvPr/>
          </p:nvGrpSpPr>
          <p:grpSpPr>
            <a:xfrm>
              <a:off x="0" y="2328785"/>
              <a:ext cx="2346879" cy="2346879"/>
              <a:chOff x="0" y="0"/>
              <a:chExt cx="812800" cy="812800"/>
            </a:xfrm>
          </p:grpSpPr>
          <p:sp>
            <p:nvSpPr>
              <p:cNvPr id="413" name="Google Shape;413;g34c237182a4_0_13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7D2AE8"/>
              </a:solidFill>
              <a:ln>
                <a:noFill/>
              </a:ln>
            </p:spPr>
          </p:sp>
          <p:sp>
            <p:nvSpPr>
              <p:cNvPr id="414" name="Google Shape;414;g34c237182a4_0_1314"/>
              <p:cNvSpPr txBox="1"/>
              <p:nvPr/>
            </p:nvSpPr>
            <p:spPr>
              <a:xfrm>
                <a:off x="0" y="0"/>
                <a:ext cx="812700" cy="812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97166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15" name="Google Shape;415;g34c237182a4_0_1314"/>
          <p:cNvSpPr txBox="1"/>
          <p:nvPr/>
        </p:nvSpPr>
        <p:spPr>
          <a:xfrm>
            <a:off x="8407072" y="6836150"/>
            <a:ext cx="21639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0"/>
              <a:buFont typeface="Arial"/>
              <a:buNone/>
            </a:pPr>
            <a:r>
              <a:rPr lang="en-US" sz="11000">
                <a:solidFill>
                  <a:srgbClr val="DEC0F1"/>
                </a:solidFill>
                <a:latin typeface="Russo One"/>
                <a:ea typeface="Russo One"/>
                <a:cs typeface="Russo One"/>
                <a:sym typeface="Russo One"/>
              </a:rPr>
              <a:t>,</a:t>
            </a:r>
            <a:endParaRPr sz="11000">
              <a:solidFill>
                <a:srgbClr val="DEC0F1"/>
              </a:solidFill>
              <a:latin typeface="Russo One"/>
              <a:ea typeface="Russo One"/>
              <a:cs typeface="Russo One"/>
              <a:sym typeface="Russo On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EC0F1"/>
        </a:solidFill>
      </p:bgPr>
    </p:bg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0" name="Google Shape;420;g34c237182a4_0_1462"/>
          <p:cNvGrpSpPr/>
          <p:nvPr/>
        </p:nvGrpSpPr>
        <p:grpSpPr>
          <a:xfrm>
            <a:off x="15745701" y="1"/>
            <a:ext cx="2542311" cy="2520505"/>
            <a:chOff x="0" y="0"/>
            <a:chExt cx="6688533" cy="6662716"/>
          </a:xfrm>
        </p:grpSpPr>
        <p:grpSp>
          <p:nvGrpSpPr>
            <p:cNvPr id="421" name="Google Shape;421;g34c237182a4_0_1462"/>
            <p:cNvGrpSpPr/>
            <p:nvPr/>
          </p:nvGrpSpPr>
          <p:grpSpPr>
            <a:xfrm>
              <a:off x="0" y="0"/>
              <a:ext cx="3344266" cy="3344266"/>
              <a:chOff x="0" y="0"/>
              <a:chExt cx="812800" cy="812800"/>
            </a:xfrm>
          </p:grpSpPr>
          <p:sp>
            <p:nvSpPr>
              <p:cNvPr id="422" name="Google Shape;422;g34c237182a4_0_146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040926"/>
              </a:solidFill>
              <a:ln>
                <a:noFill/>
              </a:ln>
            </p:spPr>
          </p:sp>
          <p:sp>
            <p:nvSpPr>
              <p:cNvPr id="423" name="Google Shape;423;g34c237182a4_0_1462"/>
              <p:cNvSpPr txBox="1"/>
              <p:nvPr/>
            </p:nvSpPr>
            <p:spPr>
              <a:xfrm>
                <a:off x="0" y="0"/>
                <a:ext cx="812700" cy="812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97111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24" name="Google Shape;424;g34c237182a4_0_1462"/>
            <p:cNvGrpSpPr/>
            <p:nvPr/>
          </p:nvGrpSpPr>
          <p:grpSpPr>
            <a:xfrm>
              <a:off x="3344267" y="3318450"/>
              <a:ext cx="3344266" cy="3344266"/>
              <a:chOff x="0" y="0"/>
              <a:chExt cx="812800" cy="812800"/>
            </a:xfrm>
          </p:grpSpPr>
          <p:sp>
            <p:nvSpPr>
              <p:cNvPr id="425" name="Google Shape;425;g34c237182a4_0_146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040926"/>
              </a:solidFill>
              <a:ln>
                <a:noFill/>
              </a:ln>
            </p:spPr>
          </p:sp>
          <p:sp>
            <p:nvSpPr>
              <p:cNvPr id="426" name="Google Shape;426;g34c237182a4_0_1462"/>
              <p:cNvSpPr txBox="1"/>
              <p:nvPr/>
            </p:nvSpPr>
            <p:spPr>
              <a:xfrm>
                <a:off x="0" y="0"/>
                <a:ext cx="812700" cy="812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97111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27" name="Google Shape;427;g34c237182a4_0_1462"/>
            <p:cNvGrpSpPr/>
            <p:nvPr/>
          </p:nvGrpSpPr>
          <p:grpSpPr>
            <a:xfrm>
              <a:off x="3344267" y="0"/>
              <a:ext cx="3344266" cy="3344266"/>
              <a:chOff x="0" y="0"/>
              <a:chExt cx="812800" cy="812800"/>
            </a:xfrm>
          </p:grpSpPr>
          <p:sp>
            <p:nvSpPr>
              <p:cNvPr id="428" name="Google Shape;428;g34c237182a4_0_146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7D2AE8"/>
              </a:solidFill>
              <a:ln>
                <a:noFill/>
              </a:ln>
            </p:spPr>
          </p:sp>
          <p:sp>
            <p:nvSpPr>
              <p:cNvPr id="429" name="Google Shape;429;g34c237182a4_0_1462"/>
              <p:cNvSpPr txBox="1"/>
              <p:nvPr/>
            </p:nvSpPr>
            <p:spPr>
              <a:xfrm>
                <a:off x="0" y="0"/>
                <a:ext cx="812700" cy="812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97111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30" name="Google Shape;430;g34c237182a4_0_1462"/>
            <p:cNvGrpSpPr/>
            <p:nvPr/>
          </p:nvGrpSpPr>
          <p:grpSpPr>
            <a:xfrm>
              <a:off x="0" y="3318450"/>
              <a:ext cx="3344266" cy="3344266"/>
              <a:chOff x="0" y="0"/>
              <a:chExt cx="812800" cy="812800"/>
            </a:xfrm>
          </p:grpSpPr>
          <p:sp>
            <p:nvSpPr>
              <p:cNvPr id="431" name="Google Shape;431;g34c237182a4_0_146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7D2AE8"/>
              </a:solidFill>
              <a:ln>
                <a:noFill/>
              </a:ln>
            </p:spPr>
          </p:sp>
          <p:sp>
            <p:nvSpPr>
              <p:cNvPr id="432" name="Google Shape;432;g34c237182a4_0_1462"/>
              <p:cNvSpPr txBox="1"/>
              <p:nvPr/>
            </p:nvSpPr>
            <p:spPr>
              <a:xfrm>
                <a:off x="0" y="0"/>
                <a:ext cx="812700" cy="812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97111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id="433" name="Google Shape;433;g34c237182a4_0_14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147185" y="64500"/>
            <a:ext cx="987050" cy="1137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Google Shape;434;g34c237182a4_0_146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825141" y="1324949"/>
            <a:ext cx="1124220" cy="1118925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g34c237182a4_0_1462"/>
          <p:cNvSpPr txBox="1"/>
          <p:nvPr/>
        </p:nvSpPr>
        <p:spPr>
          <a:xfrm>
            <a:off x="559983" y="8680450"/>
            <a:ext cx="11843400" cy="12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DEC0F1"/>
                </a:solidFill>
                <a:latin typeface="Nunito Sans"/>
                <a:ea typeface="Nunito Sans"/>
                <a:cs typeface="Nunito Sans"/>
                <a:sym typeface="Nunito Sans"/>
              </a:rPr>
              <a:t>You can find these fonts online too.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DEC0F1"/>
                </a:solidFill>
                <a:latin typeface="Nunito Sans"/>
                <a:ea typeface="Nunito Sans"/>
                <a:cs typeface="Nunito Sans"/>
                <a:sym typeface="Nunito Sans"/>
              </a:rPr>
              <a:t>Happy designing!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36" name="Google Shape;436;g34c237182a4_0_1462"/>
          <p:cNvGrpSpPr/>
          <p:nvPr/>
        </p:nvGrpSpPr>
        <p:grpSpPr>
          <a:xfrm>
            <a:off x="-125" y="2520498"/>
            <a:ext cx="18288130" cy="7766289"/>
            <a:chOff x="-893" y="-28575"/>
            <a:chExt cx="3411710" cy="1344509"/>
          </a:xfrm>
        </p:grpSpPr>
        <p:sp>
          <p:nvSpPr>
            <p:cNvPr id="437" name="Google Shape;437;g34c237182a4_0_1462"/>
            <p:cNvSpPr/>
            <p:nvPr/>
          </p:nvSpPr>
          <p:spPr>
            <a:xfrm>
              <a:off x="-893" y="-9"/>
              <a:ext cx="3411710" cy="1315943"/>
            </a:xfrm>
            <a:custGeom>
              <a:rect b="b" l="l" r="r" t="t"/>
              <a:pathLst>
                <a:path extrusionOk="0" h="1315943" w="3411710">
                  <a:moveTo>
                    <a:pt x="0" y="0"/>
                  </a:moveTo>
                  <a:lnTo>
                    <a:pt x="3411710" y="0"/>
                  </a:lnTo>
                  <a:lnTo>
                    <a:pt x="3411710" y="1315943"/>
                  </a:lnTo>
                  <a:lnTo>
                    <a:pt x="0" y="1315943"/>
                  </a:lnTo>
                  <a:close/>
                </a:path>
              </a:pathLst>
            </a:custGeom>
            <a:solidFill>
              <a:srgbClr val="7D2AE8"/>
            </a:solidFill>
            <a:ln>
              <a:noFill/>
            </a:ln>
          </p:spPr>
        </p:sp>
        <p:sp>
          <p:nvSpPr>
            <p:cNvPr id="438" name="Google Shape;438;g34c237182a4_0_1462"/>
            <p:cNvSpPr txBox="1"/>
            <p:nvPr/>
          </p:nvSpPr>
          <p:spPr>
            <a:xfrm>
              <a:off x="0" y="-28575"/>
              <a:ext cx="812700" cy="84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05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39" name="Google Shape;439;g34c237182a4_0_1462"/>
          <p:cNvSpPr txBox="1"/>
          <p:nvPr/>
        </p:nvSpPr>
        <p:spPr>
          <a:xfrm>
            <a:off x="-604900" y="10978249"/>
            <a:ext cx="11843400" cy="14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69873" lvl="1" marL="539748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DEC0F1"/>
              </a:buClr>
              <a:buSzPts val="2499"/>
              <a:buFont typeface="Arial"/>
              <a:buChar char="•"/>
            </a:pPr>
            <a:r>
              <a:rPr b="0" i="0" lang="en-US" sz="2499" u="none" cap="none" strike="noStrike">
                <a:solidFill>
                  <a:srgbClr val="DEC0F1"/>
                </a:solidFill>
                <a:latin typeface="Nunito Sans"/>
                <a:ea typeface="Nunito Sans"/>
                <a:cs typeface="Nunito Sans"/>
                <a:sym typeface="Nunito Sans"/>
              </a:rPr>
              <a:t>Titles: Russo One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9873" lvl="1" marL="539748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DEC0F1"/>
              </a:buClr>
              <a:buSzPts val="2499"/>
              <a:buFont typeface="Arial"/>
              <a:buChar char="•"/>
            </a:pPr>
            <a:r>
              <a:rPr b="0" i="0" lang="en-US" sz="2499" u="none" cap="none" strike="noStrike">
                <a:solidFill>
                  <a:srgbClr val="DEC0F1"/>
                </a:solidFill>
                <a:latin typeface="Nunito Sans"/>
                <a:ea typeface="Nunito Sans"/>
                <a:cs typeface="Nunito Sans"/>
                <a:sym typeface="Nunito Sans"/>
              </a:rPr>
              <a:t>Headers: Nunito Sans Regular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9875" lvl="1" marL="53975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EC0F1"/>
              </a:buClr>
              <a:buSzPts val="2500"/>
              <a:buFont typeface="Arial"/>
              <a:buChar char="•"/>
            </a:pPr>
            <a:r>
              <a:rPr b="0" i="0" lang="en-US" sz="2500" u="none" cap="none" strike="noStrike">
                <a:solidFill>
                  <a:srgbClr val="DEC0F1"/>
                </a:solidFill>
                <a:latin typeface="Nunito Sans"/>
                <a:ea typeface="Nunito Sans"/>
                <a:cs typeface="Nunito Sans"/>
                <a:sym typeface="Nunito Sans"/>
              </a:rPr>
              <a:t>Body Copy: Nunito Sans Regular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0" name="Google Shape;440;g34c237182a4_0_146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202717" y="3009627"/>
            <a:ext cx="7487438" cy="4612025"/>
          </a:xfrm>
          <a:prstGeom prst="rect">
            <a:avLst/>
          </a:prstGeom>
          <a:noFill/>
          <a:ln>
            <a:noFill/>
          </a:ln>
        </p:spPr>
      </p:pic>
      <p:sp>
        <p:nvSpPr>
          <p:cNvPr id="441" name="Google Shape;441;g34c237182a4_0_1462"/>
          <p:cNvSpPr txBox="1"/>
          <p:nvPr/>
        </p:nvSpPr>
        <p:spPr>
          <a:xfrm>
            <a:off x="1204700" y="3254700"/>
            <a:ext cx="8862000" cy="31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n-US" sz="3400">
                <a:solidFill>
                  <a:srgbClr val="DEC0F1"/>
                </a:solidFill>
                <a:latin typeface="Nunito Sans"/>
                <a:ea typeface="Nunito Sans"/>
                <a:cs typeface="Nunito Sans"/>
                <a:sym typeface="Nunito Sans"/>
              </a:rPr>
              <a:t>Am scris cod pentru a arăta:</a:t>
            </a:r>
            <a:endParaRPr sz="3400">
              <a:solidFill>
                <a:srgbClr val="DEC0F1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-3810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DEC0F1"/>
              </a:buClr>
              <a:buSzPts val="2400"/>
              <a:buFont typeface="Nunito Sans"/>
              <a:buChar char="●"/>
            </a:pPr>
            <a:r>
              <a:rPr lang="en-US" sz="2400">
                <a:solidFill>
                  <a:srgbClr val="DEC0F1"/>
                </a:solidFill>
                <a:latin typeface="Nunito Sans"/>
                <a:ea typeface="Nunito Sans"/>
                <a:cs typeface="Nunito Sans"/>
                <a:sym typeface="Nunito Sans"/>
              </a:rPr>
              <a:t>Evoluția probabilităților în fiecare iterație.</a:t>
            </a:r>
            <a:br>
              <a:rPr lang="en-US" sz="2400">
                <a:solidFill>
                  <a:srgbClr val="DEC0F1"/>
                </a:solidFill>
                <a:latin typeface="Nunito Sans"/>
                <a:ea typeface="Nunito Sans"/>
                <a:cs typeface="Nunito Sans"/>
                <a:sym typeface="Nunito Sans"/>
              </a:rPr>
            </a:br>
            <a:endParaRPr sz="2400">
              <a:solidFill>
                <a:srgbClr val="DEC0F1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-3810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DEC0F1"/>
              </a:buClr>
              <a:buSzPts val="2400"/>
              <a:buFont typeface="Nunito Sans"/>
              <a:buChar char="●"/>
            </a:pPr>
            <a:r>
              <a:rPr lang="en-US" sz="2400">
                <a:solidFill>
                  <a:srgbClr val="DEC0F1"/>
                </a:solidFill>
                <a:latin typeface="Nunito Sans"/>
                <a:ea typeface="Nunito Sans"/>
                <a:cs typeface="Nunito Sans"/>
                <a:sym typeface="Nunito Sans"/>
              </a:rPr>
              <a:t>Creșterea probabilității stării corecte după fiecare aplicare a operatorului Grover.</a:t>
            </a:r>
            <a:endParaRPr sz="2400">
              <a:solidFill>
                <a:srgbClr val="DEC0F1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t/>
            </a:r>
            <a:endParaRPr sz="3400">
              <a:solidFill>
                <a:srgbClr val="DEC0F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pic>
        <p:nvPicPr>
          <p:cNvPr id="442" name="Google Shape;442;g34c237182a4_0_1462" title="grover_animation.gif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883025" y="5876675"/>
            <a:ext cx="5606224" cy="4204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D2AE8"/>
        </a:solidFill>
      </p:bgPr>
    </p:bg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34c237182a4_0_1556"/>
          <p:cNvSpPr txBox="1"/>
          <p:nvPr/>
        </p:nvSpPr>
        <p:spPr>
          <a:xfrm>
            <a:off x="559972" y="6516850"/>
            <a:ext cx="13046100" cy="33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0"/>
              <a:buFont typeface="Arial"/>
              <a:buNone/>
            </a:pPr>
            <a:r>
              <a:rPr lang="en-US" sz="11000">
                <a:solidFill>
                  <a:srgbClr val="DEC0F1"/>
                </a:solidFill>
                <a:latin typeface="Russo One"/>
                <a:ea typeface="Russo One"/>
                <a:cs typeface="Russo One"/>
                <a:sym typeface="Russo One"/>
              </a:rPr>
              <a:t>Implementare</a:t>
            </a:r>
            <a:endParaRPr sz="11000">
              <a:solidFill>
                <a:srgbClr val="DEC0F1"/>
              </a:solidFill>
              <a:latin typeface="Russo One"/>
              <a:ea typeface="Russo One"/>
              <a:cs typeface="Russo One"/>
              <a:sym typeface="Russo On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0"/>
              <a:buFont typeface="Arial"/>
              <a:buNone/>
            </a:pPr>
            <a:r>
              <a:rPr lang="en-US" sz="11000">
                <a:solidFill>
                  <a:srgbClr val="DEC0F1"/>
                </a:solidFill>
                <a:latin typeface="Russo One"/>
                <a:ea typeface="Russo One"/>
                <a:cs typeface="Russo One"/>
                <a:sym typeface="Russo One"/>
              </a:rPr>
              <a:t>practică</a:t>
            </a:r>
            <a:endParaRPr sz="11000">
              <a:solidFill>
                <a:srgbClr val="DEC0F1"/>
              </a:solidFill>
              <a:latin typeface="Russo One"/>
              <a:ea typeface="Russo One"/>
              <a:cs typeface="Russo One"/>
              <a:sym typeface="Russo One"/>
            </a:endParaRPr>
          </a:p>
        </p:txBody>
      </p:sp>
      <p:grpSp>
        <p:nvGrpSpPr>
          <p:cNvPr id="448" name="Google Shape;448;g34c237182a4_0_1556"/>
          <p:cNvGrpSpPr/>
          <p:nvPr/>
        </p:nvGrpSpPr>
        <p:grpSpPr>
          <a:xfrm rot="5400000">
            <a:off x="14774458" y="6794"/>
            <a:ext cx="3520336" cy="3506748"/>
            <a:chOff x="0" y="0"/>
            <a:chExt cx="4693781" cy="4675664"/>
          </a:xfrm>
        </p:grpSpPr>
        <p:grpSp>
          <p:nvGrpSpPr>
            <p:cNvPr id="449" name="Google Shape;449;g34c237182a4_0_1556"/>
            <p:cNvGrpSpPr/>
            <p:nvPr/>
          </p:nvGrpSpPr>
          <p:grpSpPr>
            <a:xfrm>
              <a:off x="0" y="0"/>
              <a:ext cx="2346879" cy="2346879"/>
              <a:chOff x="0" y="0"/>
              <a:chExt cx="812800" cy="812800"/>
            </a:xfrm>
          </p:grpSpPr>
          <p:sp>
            <p:nvSpPr>
              <p:cNvPr id="450" name="Google Shape;450;g34c237182a4_0_155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040926"/>
              </a:solidFill>
              <a:ln>
                <a:noFill/>
              </a:ln>
            </p:spPr>
          </p:sp>
          <p:sp>
            <p:nvSpPr>
              <p:cNvPr id="451" name="Google Shape;451;g34c237182a4_0_1556"/>
              <p:cNvSpPr txBox="1"/>
              <p:nvPr/>
            </p:nvSpPr>
            <p:spPr>
              <a:xfrm>
                <a:off x="0" y="0"/>
                <a:ext cx="812700" cy="812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97166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52" name="Google Shape;452;g34c237182a4_0_1556"/>
            <p:cNvGrpSpPr/>
            <p:nvPr/>
          </p:nvGrpSpPr>
          <p:grpSpPr>
            <a:xfrm>
              <a:off x="2346902" y="2328785"/>
              <a:ext cx="2346879" cy="2346879"/>
              <a:chOff x="0" y="0"/>
              <a:chExt cx="812800" cy="812800"/>
            </a:xfrm>
          </p:grpSpPr>
          <p:sp>
            <p:nvSpPr>
              <p:cNvPr id="453" name="Google Shape;453;g34c237182a4_0_155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040926"/>
              </a:solidFill>
              <a:ln>
                <a:noFill/>
              </a:ln>
            </p:spPr>
          </p:sp>
          <p:sp>
            <p:nvSpPr>
              <p:cNvPr id="454" name="Google Shape;454;g34c237182a4_0_1556"/>
              <p:cNvSpPr txBox="1"/>
              <p:nvPr/>
            </p:nvSpPr>
            <p:spPr>
              <a:xfrm>
                <a:off x="0" y="0"/>
                <a:ext cx="812700" cy="812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97166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55" name="Google Shape;455;g34c237182a4_0_1556"/>
            <p:cNvGrpSpPr/>
            <p:nvPr/>
          </p:nvGrpSpPr>
          <p:grpSpPr>
            <a:xfrm>
              <a:off x="2346902" y="0"/>
              <a:ext cx="2346879" cy="2346879"/>
              <a:chOff x="0" y="0"/>
              <a:chExt cx="812800" cy="812800"/>
            </a:xfrm>
          </p:grpSpPr>
          <p:sp>
            <p:nvSpPr>
              <p:cNvPr id="456" name="Google Shape;456;g34c237182a4_0_155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7D2AE8"/>
              </a:solidFill>
              <a:ln>
                <a:noFill/>
              </a:ln>
            </p:spPr>
          </p:sp>
          <p:sp>
            <p:nvSpPr>
              <p:cNvPr id="457" name="Google Shape;457;g34c237182a4_0_1556"/>
              <p:cNvSpPr txBox="1"/>
              <p:nvPr/>
            </p:nvSpPr>
            <p:spPr>
              <a:xfrm>
                <a:off x="0" y="0"/>
                <a:ext cx="812700" cy="812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97166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58" name="Google Shape;458;g34c237182a4_0_1556"/>
            <p:cNvGrpSpPr/>
            <p:nvPr/>
          </p:nvGrpSpPr>
          <p:grpSpPr>
            <a:xfrm>
              <a:off x="0" y="2328785"/>
              <a:ext cx="2346879" cy="2346879"/>
              <a:chOff x="0" y="0"/>
              <a:chExt cx="812800" cy="812800"/>
            </a:xfrm>
          </p:grpSpPr>
          <p:sp>
            <p:nvSpPr>
              <p:cNvPr id="459" name="Google Shape;459;g34c237182a4_0_155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7D2AE8"/>
              </a:solidFill>
              <a:ln>
                <a:noFill/>
              </a:ln>
            </p:spPr>
          </p:sp>
          <p:sp>
            <p:nvSpPr>
              <p:cNvPr id="460" name="Google Shape;460;g34c237182a4_0_1556"/>
              <p:cNvSpPr txBox="1"/>
              <p:nvPr/>
            </p:nvSpPr>
            <p:spPr>
              <a:xfrm>
                <a:off x="0" y="0"/>
                <a:ext cx="812700" cy="812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97166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61" name="Google Shape;461;g34c237182a4_0_1556"/>
          <p:cNvGrpSpPr/>
          <p:nvPr/>
        </p:nvGrpSpPr>
        <p:grpSpPr>
          <a:xfrm rot="5400000">
            <a:off x="14774458" y="3527148"/>
            <a:ext cx="3520336" cy="3506748"/>
            <a:chOff x="0" y="0"/>
            <a:chExt cx="4693781" cy="4675664"/>
          </a:xfrm>
        </p:grpSpPr>
        <p:grpSp>
          <p:nvGrpSpPr>
            <p:cNvPr id="462" name="Google Shape;462;g34c237182a4_0_1556"/>
            <p:cNvGrpSpPr/>
            <p:nvPr/>
          </p:nvGrpSpPr>
          <p:grpSpPr>
            <a:xfrm>
              <a:off x="0" y="0"/>
              <a:ext cx="2346879" cy="2346879"/>
              <a:chOff x="0" y="0"/>
              <a:chExt cx="812800" cy="812800"/>
            </a:xfrm>
          </p:grpSpPr>
          <p:sp>
            <p:nvSpPr>
              <p:cNvPr id="463" name="Google Shape;463;g34c237182a4_0_155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040926"/>
              </a:solidFill>
              <a:ln>
                <a:noFill/>
              </a:ln>
            </p:spPr>
          </p:sp>
          <p:sp>
            <p:nvSpPr>
              <p:cNvPr id="464" name="Google Shape;464;g34c237182a4_0_1556"/>
              <p:cNvSpPr txBox="1"/>
              <p:nvPr/>
            </p:nvSpPr>
            <p:spPr>
              <a:xfrm>
                <a:off x="0" y="0"/>
                <a:ext cx="812700" cy="812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97166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65" name="Google Shape;465;g34c237182a4_0_1556"/>
            <p:cNvGrpSpPr/>
            <p:nvPr/>
          </p:nvGrpSpPr>
          <p:grpSpPr>
            <a:xfrm>
              <a:off x="2346902" y="2328785"/>
              <a:ext cx="2346879" cy="2346879"/>
              <a:chOff x="0" y="0"/>
              <a:chExt cx="812800" cy="812800"/>
            </a:xfrm>
          </p:grpSpPr>
          <p:sp>
            <p:nvSpPr>
              <p:cNvPr id="466" name="Google Shape;466;g34c237182a4_0_155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040926"/>
              </a:solidFill>
              <a:ln>
                <a:noFill/>
              </a:ln>
            </p:spPr>
          </p:sp>
          <p:sp>
            <p:nvSpPr>
              <p:cNvPr id="467" name="Google Shape;467;g34c237182a4_0_1556"/>
              <p:cNvSpPr txBox="1"/>
              <p:nvPr/>
            </p:nvSpPr>
            <p:spPr>
              <a:xfrm>
                <a:off x="0" y="0"/>
                <a:ext cx="812700" cy="812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97166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68" name="Google Shape;468;g34c237182a4_0_1556"/>
            <p:cNvGrpSpPr/>
            <p:nvPr/>
          </p:nvGrpSpPr>
          <p:grpSpPr>
            <a:xfrm>
              <a:off x="2346902" y="0"/>
              <a:ext cx="2346879" cy="2346879"/>
              <a:chOff x="0" y="0"/>
              <a:chExt cx="812800" cy="812800"/>
            </a:xfrm>
          </p:grpSpPr>
          <p:sp>
            <p:nvSpPr>
              <p:cNvPr id="469" name="Google Shape;469;g34c237182a4_0_155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7D2AE8"/>
              </a:solidFill>
              <a:ln>
                <a:noFill/>
              </a:ln>
            </p:spPr>
          </p:sp>
          <p:sp>
            <p:nvSpPr>
              <p:cNvPr id="470" name="Google Shape;470;g34c237182a4_0_1556"/>
              <p:cNvSpPr txBox="1"/>
              <p:nvPr/>
            </p:nvSpPr>
            <p:spPr>
              <a:xfrm>
                <a:off x="0" y="0"/>
                <a:ext cx="812700" cy="812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97166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71" name="Google Shape;471;g34c237182a4_0_1556"/>
            <p:cNvGrpSpPr/>
            <p:nvPr/>
          </p:nvGrpSpPr>
          <p:grpSpPr>
            <a:xfrm>
              <a:off x="0" y="2328785"/>
              <a:ext cx="2346879" cy="2346879"/>
              <a:chOff x="0" y="0"/>
              <a:chExt cx="812800" cy="812800"/>
            </a:xfrm>
          </p:grpSpPr>
          <p:sp>
            <p:nvSpPr>
              <p:cNvPr id="472" name="Google Shape;472;g34c237182a4_0_155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7D2AE8"/>
              </a:solidFill>
              <a:ln>
                <a:noFill/>
              </a:ln>
            </p:spPr>
          </p:sp>
          <p:sp>
            <p:nvSpPr>
              <p:cNvPr id="473" name="Google Shape;473;g34c237182a4_0_1556"/>
              <p:cNvSpPr txBox="1"/>
              <p:nvPr/>
            </p:nvSpPr>
            <p:spPr>
              <a:xfrm>
                <a:off x="0" y="0"/>
                <a:ext cx="812700" cy="812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97166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74" name="Google Shape;474;g34c237182a4_0_1556"/>
          <p:cNvGrpSpPr/>
          <p:nvPr/>
        </p:nvGrpSpPr>
        <p:grpSpPr>
          <a:xfrm>
            <a:off x="564150" y="1737195"/>
            <a:ext cx="2873085" cy="2974534"/>
            <a:chOff x="0" y="-28575"/>
            <a:chExt cx="812800" cy="841500"/>
          </a:xfrm>
        </p:grpSpPr>
        <p:sp>
          <p:nvSpPr>
            <p:cNvPr id="475" name="Google Shape;475;g34c237182a4_0_1556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DEC0F1"/>
            </a:solidFill>
            <a:ln>
              <a:noFill/>
            </a:ln>
          </p:spPr>
        </p:sp>
        <p:sp>
          <p:nvSpPr>
            <p:cNvPr id="476" name="Google Shape;476;g34c237182a4_0_1556"/>
            <p:cNvSpPr txBox="1"/>
            <p:nvPr/>
          </p:nvSpPr>
          <p:spPr>
            <a:xfrm>
              <a:off x="0" y="-28575"/>
              <a:ext cx="812700" cy="84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05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477" name="Google Shape;477;g34c237182a4_0_15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810453" y="2079511"/>
            <a:ext cx="2380520" cy="238052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78" name="Google Shape;478;g34c237182a4_0_1556"/>
          <p:cNvGrpSpPr/>
          <p:nvPr/>
        </p:nvGrpSpPr>
        <p:grpSpPr>
          <a:xfrm rot="5400000">
            <a:off x="14774458" y="7047501"/>
            <a:ext cx="3520336" cy="3506748"/>
            <a:chOff x="0" y="0"/>
            <a:chExt cx="4693781" cy="4675664"/>
          </a:xfrm>
        </p:grpSpPr>
        <p:grpSp>
          <p:nvGrpSpPr>
            <p:cNvPr id="479" name="Google Shape;479;g34c237182a4_0_1556"/>
            <p:cNvGrpSpPr/>
            <p:nvPr/>
          </p:nvGrpSpPr>
          <p:grpSpPr>
            <a:xfrm>
              <a:off x="0" y="0"/>
              <a:ext cx="2346879" cy="2346879"/>
              <a:chOff x="0" y="0"/>
              <a:chExt cx="812800" cy="812800"/>
            </a:xfrm>
          </p:grpSpPr>
          <p:sp>
            <p:nvSpPr>
              <p:cNvPr id="480" name="Google Shape;480;g34c237182a4_0_155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040926"/>
              </a:solidFill>
              <a:ln>
                <a:noFill/>
              </a:ln>
            </p:spPr>
          </p:sp>
          <p:sp>
            <p:nvSpPr>
              <p:cNvPr id="481" name="Google Shape;481;g34c237182a4_0_1556"/>
              <p:cNvSpPr txBox="1"/>
              <p:nvPr/>
            </p:nvSpPr>
            <p:spPr>
              <a:xfrm>
                <a:off x="0" y="0"/>
                <a:ext cx="812700" cy="812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97166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82" name="Google Shape;482;g34c237182a4_0_1556"/>
            <p:cNvGrpSpPr/>
            <p:nvPr/>
          </p:nvGrpSpPr>
          <p:grpSpPr>
            <a:xfrm>
              <a:off x="2346902" y="2328785"/>
              <a:ext cx="2346879" cy="2346879"/>
              <a:chOff x="0" y="0"/>
              <a:chExt cx="812800" cy="812800"/>
            </a:xfrm>
          </p:grpSpPr>
          <p:sp>
            <p:nvSpPr>
              <p:cNvPr id="483" name="Google Shape;483;g34c237182a4_0_155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040926"/>
              </a:solidFill>
              <a:ln>
                <a:noFill/>
              </a:ln>
            </p:spPr>
          </p:sp>
          <p:sp>
            <p:nvSpPr>
              <p:cNvPr id="484" name="Google Shape;484;g34c237182a4_0_1556"/>
              <p:cNvSpPr txBox="1"/>
              <p:nvPr/>
            </p:nvSpPr>
            <p:spPr>
              <a:xfrm>
                <a:off x="0" y="0"/>
                <a:ext cx="812700" cy="812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97166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85" name="Google Shape;485;g34c237182a4_0_1556"/>
            <p:cNvGrpSpPr/>
            <p:nvPr/>
          </p:nvGrpSpPr>
          <p:grpSpPr>
            <a:xfrm>
              <a:off x="2346902" y="0"/>
              <a:ext cx="2346879" cy="2346879"/>
              <a:chOff x="0" y="0"/>
              <a:chExt cx="812800" cy="812800"/>
            </a:xfrm>
          </p:grpSpPr>
          <p:sp>
            <p:nvSpPr>
              <p:cNvPr id="486" name="Google Shape;486;g34c237182a4_0_155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7D2AE8"/>
              </a:solidFill>
              <a:ln>
                <a:noFill/>
              </a:ln>
            </p:spPr>
          </p:sp>
          <p:sp>
            <p:nvSpPr>
              <p:cNvPr id="487" name="Google Shape;487;g34c237182a4_0_1556"/>
              <p:cNvSpPr txBox="1"/>
              <p:nvPr/>
            </p:nvSpPr>
            <p:spPr>
              <a:xfrm>
                <a:off x="0" y="0"/>
                <a:ext cx="812700" cy="812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97166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88" name="Google Shape;488;g34c237182a4_0_1556"/>
            <p:cNvGrpSpPr/>
            <p:nvPr/>
          </p:nvGrpSpPr>
          <p:grpSpPr>
            <a:xfrm>
              <a:off x="0" y="2328785"/>
              <a:ext cx="2346879" cy="2346879"/>
              <a:chOff x="0" y="0"/>
              <a:chExt cx="812800" cy="812800"/>
            </a:xfrm>
          </p:grpSpPr>
          <p:sp>
            <p:nvSpPr>
              <p:cNvPr id="489" name="Google Shape;489;g34c237182a4_0_155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7D2AE8"/>
              </a:solidFill>
              <a:ln>
                <a:noFill/>
              </a:ln>
            </p:spPr>
          </p:sp>
          <p:sp>
            <p:nvSpPr>
              <p:cNvPr id="490" name="Google Shape;490;g34c237182a4_0_1556"/>
              <p:cNvSpPr txBox="1"/>
              <p:nvPr/>
            </p:nvSpPr>
            <p:spPr>
              <a:xfrm>
                <a:off x="0" y="0"/>
                <a:ext cx="812700" cy="812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97166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EC0F1"/>
        </a:solidFill>
      </p:bgPr>
    </p:bg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5" name="Google Shape;495;g34c237182a4_0_1512"/>
          <p:cNvGrpSpPr/>
          <p:nvPr/>
        </p:nvGrpSpPr>
        <p:grpSpPr>
          <a:xfrm>
            <a:off x="15745701" y="1"/>
            <a:ext cx="2542311" cy="2520505"/>
            <a:chOff x="0" y="0"/>
            <a:chExt cx="6688533" cy="6662716"/>
          </a:xfrm>
        </p:grpSpPr>
        <p:grpSp>
          <p:nvGrpSpPr>
            <p:cNvPr id="496" name="Google Shape;496;g34c237182a4_0_1512"/>
            <p:cNvGrpSpPr/>
            <p:nvPr/>
          </p:nvGrpSpPr>
          <p:grpSpPr>
            <a:xfrm>
              <a:off x="0" y="0"/>
              <a:ext cx="3344266" cy="3344266"/>
              <a:chOff x="0" y="0"/>
              <a:chExt cx="812800" cy="812800"/>
            </a:xfrm>
          </p:grpSpPr>
          <p:sp>
            <p:nvSpPr>
              <p:cNvPr id="497" name="Google Shape;497;g34c237182a4_0_151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040926"/>
              </a:solidFill>
              <a:ln>
                <a:noFill/>
              </a:ln>
            </p:spPr>
          </p:sp>
          <p:sp>
            <p:nvSpPr>
              <p:cNvPr id="498" name="Google Shape;498;g34c237182a4_0_1512"/>
              <p:cNvSpPr txBox="1"/>
              <p:nvPr/>
            </p:nvSpPr>
            <p:spPr>
              <a:xfrm>
                <a:off x="0" y="0"/>
                <a:ext cx="812700" cy="812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97111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99" name="Google Shape;499;g34c237182a4_0_1512"/>
            <p:cNvGrpSpPr/>
            <p:nvPr/>
          </p:nvGrpSpPr>
          <p:grpSpPr>
            <a:xfrm>
              <a:off x="3344267" y="3318450"/>
              <a:ext cx="3344266" cy="3344266"/>
              <a:chOff x="0" y="0"/>
              <a:chExt cx="812800" cy="812800"/>
            </a:xfrm>
          </p:grpSpPr>
          <p:sp>
            <p:nvSpPr>
              <p:cNvPr id="500" name="Google Shape;500;g34c237182a4_0_151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040926"/>
              </a:solidFill>
              <a:ln>
                <a:noFill/>
              </a:ln>
            </p:spPr>
          </p:sp>
          <p:sp>
            <p:nvSpPr>
              <p:cNvPr id="501" name="Google Shape;501;g34c237182a4_0_1512"/>
              <p:cNvSpPr txBox="1"/>
              <p:nvPr/>
            </p:nvSpPr>
            <p:spPr>
              <a:xfrm>
                <a:off x="0" y="0"/>
                <a:ext cx="812700" cy="812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97111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02" name="Google Shape;502;g34c237182a4_0_1512"/>
            <p:cNvGrpSpPr/>
            <p:nvPr/>
          </p:nvGrpSpPr>
          <p:grpSpPr>
            <a:xfrm>
              <a:off x="3344267" y="0"/>
              <a:ext cx="3344266" cy="3344266"/>
              <a:chOff x="0" y="0"/>
              <a:chExt cx="812800" cy="812800"/>
            </a:xfrm>
          </p:grpSpPr>
          <p:sp>
            <p:nvSpPr>
              <p:cNvPr id="503" name="Google Shape;503;g34c237182a4_0_151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7D2AE8"/>
              </a:solidFill>
              <a:ln>
                <a:noFill/>
              </a:ln>
            </p:spPr>
          </p:sp>
          <p:sp>
            <p:nvSpPr>
              <p:cNvPr id="504" name="Google Shape;504;g34c237182a4_0_1512"/>
              <p:cNvSpPr txBox="1"/>
              <p:nvPr/>
            </p:nvSpPr>
            <p:spPr>
              <a:xfrm>
                <a:off x="0" y="0"/>
                <a:ext cx="812700" cy="812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97111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05" name="Google Shape;505;g34c237182a4_0_1512"/>
            <p:cNvGrpSpPr/>
            <p:nvPr/>
          </p:nvGrpSpPr>
          <p:grpSpPr>
            <a:xfrm>
              <a:off x="0" y="3318450"/>
              <a:ext cx="3344266" cy="3344266"/>
              <a:chOff x="0" y="0"/>
              <a:chExt cx="812800" cy="812800"/>
            </a:xfrm>
          </p:grpSpPr>
          <p:sp>
            <p:nvSpPr>
              <p:cNvPr id="506" name="Google Shape;506;g34c237182a4_0_151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7D2AE8"/>
              </a:solidFill>
              <a:ln>
                <a:noFill/>
              </a:ln>
            </p:spPr>
          </p:sp>
          <p:sp>
            <p:nvSpPr>
              <p:cNvPr id="507" name="Google Shape;507;g34c237182a4_0_1512"/>
              <p:cNvSpPr txBox="1"/>
              <p:nvPr/>
            </p:nvSpPr>
            <p:spPr>
              <a:xfrm>
                <a:off x="0" y="0"/>
                <a:ext cx="812700" cy="812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97111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id="508" name="Google Shape;508;g34c237182a4_0_15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147185" y="64500"/>
            <a:ext cx="987050" cy="1137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9" name="Google Shape;509;g34c237182a4_0_15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825141" y="1324949"/>
            <a:ext cx="1124220" cy="1118925"/>
          </a:xfrm>
          <a:prstGeom prst="rect">
            <a:avLst/>
          </a:prstGeom>
          <a:noFill/>
          <a:ln>
            <a:noFill/>
          </a:ln>
        </p:spPr>
      </p:pic>
      <p:sp>
        <p:nvSpPr>
          <p:cNvPr id="510" name="Google Shape;510;g34c237182a4_0_1512"/>
          <p:cNvSpPr txBox="1"/>
          <p:nvPr/>
        </p:nvSpPr>
        <p:spPr>
          <a:xfrm>
            <a:off x="559983" y="8680450"/>
            <a:ext cx="11843400" cy="12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DEC0F1"/>
                </a:solidFill>
                <a:latin typeface="Nunito Sans"/>
                <a:ea typeface="Nunito Sans"/>
                <a:cs typeface="Nunito Sans"/>
                <a:sym typeface="Nunito Sans"/>
              </a:rPr>
              <a:t>You can find these fonts online too.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DEC0F1"/>
                </a:solidFill>
                <a:latin typeface="Nunito Sans"/>
                <a:ea typeface="Nunito Sans"/>
                <a:cs typeface="Nunito Sans"/>
                <a:sym typeface="Nunito Sans"/>
              </a:rPr>
              <a:t>Happy designing!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11" name="Google Shape;511;g34c237182a4_0_1512"/>
          <p:cNvGrpSpPr/>
          <p:nvPr/>
        </p:nvGrpSpPr>
        <p:grpSpPr>
          <a:xfrm>
            <a:off x="-75" y="2520498"/>
            <a:ext cx="18288130" cy="7766289"/>
            <a:chOff x="-893" y="-28575"/>
            <a:chExt cx="3411710" cy="1344509"/>
          </a:xfrm>
        </p:grpSpPr>
        <p:sp>
          <p:nvSpPr>
            <p:cNvPr id="512" name="Google Shape;512;g34c237182a4_0_1512"/>
            <p:cNvSpPr/>
            <p:nvPr/>
          </p:nvSpPr>
          <p:spPr>
            <a:xfrm>
              <a:off x="-893" y="-9"/>
              <a:ext cx="3411710" cy="1315943"/>
            </a:xfrm>
            <a:custGeom>
              <a:rect b="b" l="l" r="r" t="t"/>
              <a:pathLst>
                <a:path extrusionOk="0" h="1315943" w="3411710">
                  <a:moveTo>
                    <a:pt x="0" y="0"/>
                  </a:moveTo>
                  <a:lnTo>
                    <a:pt x="3411710" y="0"/>
                  </a:lnTo>
                  <a:lnTo>
                    <a:pt x="3411710" y="1315943"/>
                  </a:lnTo>
                  <a:lnTo>
                    <a:pt x="0" y="1315943"/>
                  </a:lnTo>
                  <a:close/>
                </a:path>
              </a:pathLst>
            </a:custGeom>
            <a:solidFill>
              <a:srgbClr val="7D2AE8"/>
            </a:solidFill>
            <a:ln>
              <a:noFill/>
            </a:ln>
          </p:spPr>
        </p:sp>
        <p:sp>
          <p:nvSpPr>
            <p:cNvPr id="513" name="Google Shape;513;g34c237182a4_0_1512"/>
            <p:cNvSpPr txBox="1"/>
            <p:nvPr/>
          </p:nvSpPr>
          <p:spPr>
            <a:xfrm>
              <a:off x="0" y="-28575"/>
              <a:ext cx="812700" cy="84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05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14" name="Google Shape;514;g34c237182a4_0_1512"/>
          <p:cNvSpPr txBox="1"/>
          <p:nvPr/>
        </p:nvSpPr>
        <p:spPr>
          <a:xfrm>
            <a:off x="1204700" y="3254700"/>
            <a:ext cx="11843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n-US" sz="4000">
                <a:solidFill>
                  <a:srgbClr val="DEC0F1"/>
                </a:solidFill>
                <a:latin typeface="Nunito Sans"/>
                <a:ea typeface="Nunito Sans"/>
                <a:cs typeface="Nunito Sans"/>
                <a:sym typeface="Nunito Sans"/>
              </a:rPr>
              <a:t>Ce este Qiskit?</a:t>
            </a:r>
            <a:endParaRPr sz="4000">
              <a:solidFill>
                <a:srgbClr val="DEC0F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515" name="Google Shape;515;g34c237182a4_0_1512"/>
          <p:cNvSpPr txBox="1"/>
          <p:nvPr/>
        </p:nvSpPr>
        <p:spPr>
          <a:xfrm>
            <a:off x="-604900" y="10978249"/>
            <a:ext cx="11843400" cy="14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69873" lvl="1" marL="539748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DEC0F1"/>
              </a:buClr>
              <a:buSzPts val="2499"/>
              <a:buFont typeface="Arial"/>
              <a:buChar char="•"/>
            </a:pPr>
            <a:r>
              <a:rPr b="0" i="0" lang="en-US" sz="2499" u="none" cap="none" strike="noStrike">
                <a:solidFill>
                  <a:srgbClr val="DEC0F1"/>
                </a:solidFill>
                <a:latin typeface="Nunito Sans"/>
                <a:ea typeface="Nunito Sans"/>
                <a:cs typeface="Nunito Sans"/>
                <a:sym typeface="Nunito Sans"/>
              </a:rPr>
              <a:t>Titles: Russo One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9873" lvl="1" marL="539748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DEC0F1"/>
              </a:buClr>
              <a:buSzPts val="2499"/>
              <a:buFont typeface="Arial"/>
              <a:buChar char="•"/>
            </a:pPr>
            <a:r>
              <a:rPr b="0" i="0" lang="en-US" sz="2499" u="none" cap="none" strike="noStrike">
                <a:solidFill>
                  <a:srgbClr val="DEC0F1"/>
                </a:solidFill>
                <a:latin typeface="Nunito Sans"/>
                <a:ea typeface="Nunito Sans"/>
                <a:cs typeface="Nunito Sans"/>
                <a:sym typeface="Nunito Sans"/>
              </a:rPr>
              <a:t>Headers: Nunito Sans Regular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9875" lvl="1" marL="53975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EC0F1"/>
              </a:buClr>
              <a:buSzPts val="2500"/>
              <a:buFont typeface="Arial"/>
              <a:buChar char="•"/>
            </a:pPr>
            <a:r>
              <a:rPr b="0" i="0" lang="en-US" sz="2500" u="none" cap="none" strike="noStrike">
                <a:solidFill>
                  <a:srgbClr val="DEC0F1"/>
                </a:solidFill>
                <a:latin typeface="Nunito Sans"/>
                <a:ea typeface="Nunito Sans"/>
                <a:cs typeface="Nunito Sans"/>
                <a:sym typeface="Nunito Sans"/>
              </a:rPr>
              <a:t>Body Copy: Nunito Sans Regular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g34c237182a4_0_1512"/>
          <p:cNvSpPr txBox="1"/>
          <p:nvPr/>
        </p:nvSpPr>
        <p:spPr>
          <a:xfrm>
            <a:off x="559976" y="139725"/>
            <a:ext cx="16647000" cy="25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36"/>
              <a:buFont typeface="Arial"/>
              <a:buNone/>
            </a:pPr>
            <a:r>
              <a:rPr lang="en-US" sz="8336">
                <a:solidFill>
                  <a:srgbClr val="040926"/>
                </a:solidFill>
                <a:latin typeface="Russo One"/>
                <a:ea typeface="Russo One"/>
                <a:cs typeface="Russo One"/>
                <a:sym typeface="Russo One"/>
              </a:rPr>
              <a:t>Implementare practică </a:t>
            </a:r>
            <a:endParaRPr sz="8336">
              <a:solidFill>
                <a:srgbClr val="040926"/>
              </a:solidFill>
              <a:latin typeface="Russo One"/>
              <a:ea typeface="Russo One"/>
              <a:cs typeface="Russo One"/>
              <a:sym typeface="Russo On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36"/>
              <a:buFont typeface="Arial"/>
              <a:buNone/>
            </a:pPr>
            <a:r>
              <a:rPr lang="en-US" sz="8336">
                <a:solidFill>
                  <a:srgbClr val="040926"/>
                </a:solidFill>
                <a:latin typeface="Russo One"/>
                <a:ea typeface="Russo One"/>
                <a:cs typeface="Russo One"/>
                <a:sym typeface="Russo One"/>
              </a:rPr>
              <a:t>în Qiskit</a:t>
            </a:r>
            <a:endParaRPr sz="8336">
              <a:solidFill>
                <a:srgbClr val="040926"/>
              </a:solidFill>
              <a:latin typeface="Russo One"/>
              <a:ea typeface="Russo One"/>
              <a:cs typeface="Russo One"/>
              <a:sym typeface="Russo One"/>
            </a:endParaRPr>
          </a:p>
        </p:txBody>
      </p:sp>
      <p:grpSp>
        <p:nvGrpSpPr>
          <p:cNvPr id="517" name="Google Shape;517;g34c237182a4_0_1512"/>
          <p:cNvGrpSpPr/>
          <p:nvPr/>
        </p:nvGrpSpPr>
        <p:grpSpPr>
          <a:xfrm>
            <a:off x="559975" y="3278152"/>
            <a:ext cx="549290" cy="568686"/>
            <a:chOff x="0" y="-28575"/>
            <a:chExt cx="812800" cy="841500"/>
          </a:xfrm>
        </p:grpSpPr>
        <p:sp>
          <p:nvSpPr>
            <p:cNvPr id="518" name="Google Shape;518;g34c237182a4_0_1512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40926"/>
            </a:solidFill>
            <a:ln>
              <a:noFill/>
            </a:ln>
          </p:spPr>
        </p:sp>
        <p:sp>
          <p:nvSpPr>
            <p:cNvPr id="519" name="Google Shape;519;g34c237182a4_0_1512"/>
            <p:cNvSpPr txBox="1"/>
            <p:nvPr/>
          </p:nvSpPr>
          <p:spPr>
            <a:xfrm>
              <a:off x="0" y="-28575"/>
              <a:ext cx="812700" cy="84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05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20" name="Google Shape;520;g34c237182a4_0_1512"/>
          <p:cNvSpPr txBox="1"/>
          <p:nvPr/>
        </p:nvSpPr>
        <p:spPr>
          <a:xfrm>
            <a:off x="1278600" y="4535738"/>
            <a:ext cx="11843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n-US" sz="4000">
                <a:solidFill>
                  <a:srgbClr val="DEC0F1"/>
                </a:solidFill>
                <a:latin typeface="Nunito Sans"/>
                <a:ea typeface="Nunito Sans"/>
                <a:cs typeface="Nunito Sans"/>
                <a:sym typeface="Nunito Sans"/>
              </a:rPr>
              <a:t>Pașii implementării</a:t>
            </a:r>
            <a:endParaRPr sz="4000">
              <a:solidFill>
                <a:srgbClr val="DEC0F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grpSp>
        <p:nvGrpSpPr>
          <p:cNvPr id="521" name="Google Shape;521;g34c237182a4_0_1512"/>
          <p:cNvGrpSpPr/>
          <p:nvPr/>
        </p:nvGrpSpPr>
        <p:grpSpPr>
          <a:xfrm>
            <a:off x="559975" y="4559202"/>
            <a:ext cx="549290" cy="568686"/>
            <a:chOff x="0" y="-28575"/>
            <a:chExt cx="812800" cy="841500"/>
          </a:xfrm>
        </p:grpSpPr>
        <p:sp>
          <p:nvSpPr>
            <p:cNvPr id="522" name="Google Shape;522;g34c237182a4_0_1512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40926"/>
            </a:solidFill>
            <a:ln>
              <a:noFill/>
            </a:ln>
          </p:spPr>
        </p:sp>
        <p:sp>
          <p:nvSpPr>
            <p:cNvPr id="523" name="Google Shape;523;g34c237182a4_0_1512"/>
            <p:cNvSpPr txBox="1"/>
            <p:nvPr/>
          </p:nvSpPr>
          <p:spPr>
            <a:xfrm>
              <a:off x="0" y="-28575"/>
              <a:ext cx="812700" cy="84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05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24" name="Google Shape;524;g34c237182a4_0_1512"/>
          <p:cNvSpPr txBox="1"/>
          <p:nvPr/>
        </p:nvSpPr>
        <p:spPr>
          <a:xfrm>
            <a:off x="1204700" y="5431588"/>
            <a:ext cx="150867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DEC0F1"/>
              </a:buClr>
              <a:buSzPts val="2200"/>
              <a:buFont typeface="Nunito Sans"/>
              <a:buAutoNum type="arabicPeriod"/>
            </a:pPr>
            <a:r>
              <a:rPr lang="en-US" sz="2200">
                <a:solidFill>
                  <a:srgbClr val="DEC0F1"/>
                </a:solidFill>
                <a:latin typeface="Nunito Sans"/>
                <a:ea typeface="Nunito Sans"/>
                <a:cs typeface="Nunito Sans"/>
                <a:sym typeface="Nunito Sans"/>
              </a:rPr>
              <a:t>Inițializare: Crearea și aplicarea lui Hadamard pe qubiți.</a:t>
            </a:r>
            <a:br>
              <a:rPr lang="en-US" sz="2200">
                <a:solidFill>
                  <a:srgbClr val="DEC0F1"/>
                </a:solidFill>
                <a:latin typeface="Nunito Sans"/>
                <a:ea typeface="Nunito Sans"/>
                <a:cs typeface="Nunito Sans"/>
                <a:sym typeface="Nunito Sans"/>
              </a:rPr>
            </a:br>
            <a:endParaRPr sz="2200">
              <a:solidFill>
                <a:srgbClr val="DEC0F1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DEC0F1"/>
              </a:buClr>
              <a:buSzPts val="2200"/>
              <a:buFont typeface="Nunito Sans"/>
              <a:buAutoNum type="arabicPeriod"/>
            </a:pPr>
            <a:r>
              <a:rPr lang="en-US" sz="2200">
                <a:solidFill>
                  <a:srgbClr val="DEC0F1"/>
                </a:solidFill>
                <a:latin typeface="Nunito Sans"/>
                <a:ea typeface="Nunito Sans"/>
                <a:cs typeface="Nunito Sans"/>
                <a:sym typeface="Nunito Sans"/>
              </a:rPr>
              <a:t>Construirea Oracolului: Aplicarea unei faze negative pe soluția corectă.</a:t>
            </a:r>
            <a:br>
              <a:rPr lang="en-US" sz="2200">
                <a:solidFill>
                  <a:srgbClr val="DEC0F1"/>
                </a:solidFill>
                <a:latin typeface="Nunito Sans"/>
                <a:ea typeface="Nunito Sans"/>
                <a:cs typeface="Nunito Sans"/>
                <a:sym typeface="Nunito Sans"/>
              </a:rPr>
            </a:br>
            <a:endParaRPr sz="2200">
              <a:solidFill>
                <a:srgbClr val="DEC0F1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DEC0F1"/>
              </a:buClr>
              <a:buSzPts val="2200"/>
              <a:buFont typeface="Nunito Sans"/>
              <a:buAutoNum type="arabicPeriod"/>
            </a:pPr>
            <a:r>
              <a:rPr lang="en-US" sz="2200">
                <a:solidFill>
                  <a:srgbClr val="DEC0F1"/>
                </a:solidFill>
                <a:latin typeface="Nunito Sans"/>
                <a:ea typeface="Nunito Sans"/>
                <a:cs typeface="Nunito Sans"/>
                <a:sym typeface="Nunito Sans"/>
              </a:rPr>
              <a:t>Aplicarea operatorului de difuzie.</a:t>
            </a:r>
            <a:br>
              <a:rPr lang="en-US" sz="2200">
                <a:solidFill>
                  <a:srgbClr val="DEC0F1"/>
                </a:solidFill>
                <a:latin typeface="Nunito Sans"/>
                <a:ea typeface="Nunito Sans"/>
                <a:cs typeface="Nunito Sans"/>
                <a:sym typeface="Nunito Sans"/>
              </a:rPr>
            </a:br>
            <a:endParaRPr sz="2200">
              <a:solidFill>
                <a:srgbClr val="DEC0F1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DEC0F1"/>
              </a:buClr>
              <a:buSzPts val="2200"/>
              <a:buFont typeface="Nunito Sans"/>
              <a:buAutoNum type="arabicPeriod"/>
            </a:pPr>
            <a:r>
              <a:rPr lang="en-US" sz="2200">
                <a:solidFill>
                  <a:srgbClr val="DEC0F1"/>
                </a:solidFill>
                <a:latin typeface="Nunito Sans"/>
                <a:ea typeface="Nunito Sans"/>
                <a:cs typeface="Nunito Sans"/>
                <a:sym typeface="Nunito Sans"/>
              </a:rPr>
              <a:t>Măsurarea rezultatului.</a:t>
            </a:r>
            <a:endParaRPr sz="2200">
              <a:solidFill>
                <a:srgbClr val="DEC0F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525" name="Google Shape;525;g34c237182a4_0_1512"/>
          <p:cNvSpPr txBox="1"/>
          <p:nvPr/>
        </p:nvSpPr>
        <p:spPr>
          <a:xfrm>
            <a:off x="1109275" y="3941425"/>
            <a:ext cx="15086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EC0F1"/>
              </a:buClr>
              <a:buSzPts val="2200"/>
              <a:buFont typeface="Nunito Sans"/>
              <a:buChar char="●"/>
            </a:pPr>
            <a:r>
              <a:rPr lang="en-US" sz="2200">
                <a:solidFill>
                  <a:srgbClr val="DEC0F1"/>
                </a:solidFill>
                <a:latin typeface="Nunito Sans"/>
                <a:ea typeface="Nunito Sans"/>
                <a:cs typeface="Nunito Sans"/>
                <a:sym typeface="Nunito Sans"/>
              </a:rPr>
              <a:t>Un framework Python pentru programare cuantică pe calculatoarele IBM Q.</a:t>
            </a:r>
            <a:endParaRPr sz="300">
              <a:solidFill>
                <a:schemeClr val="dk1"/>
              </a:solidFill>
            </a:endParaRPr>
          </a:p>
        </p:txBody>
      </p:sp>
      <p:pic>
        <p:nvPicPr>
          <p:cNvPr id="526" name="Google Shape;526;g34c237182a4_0_15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238500" y="3685258"/>
            <a:ext cx="6895724" cy="55125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27" name="Google Shape;527;g34c237182a4_0_151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02400" y="6606725"/>
            <a:ext cx="4705475" cy="3384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EC0F1"/>
        </a:solidFill>
      </p:bgPr>
    </p:bg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2" name="Google Shape;532;g348782a9c86_0_0"/>
          <p:cNvGrpSpPr/>
          <p:nvPr/>
        </p:nvGrpSpPr>
        <p:grpSpPr>
          <a:xfrm>
            <a:off x="15745701" y="1"/>
            <a:ext cx="2542311" cy="2520505"/>
            <a:chOff x="0" y="0"/>
            <a:chExt cx="6688533" cy="6662716"/>
          </a:xfrm>
        </p:grpSpPr>
        <p:grpSp>
          <p:nvGrpSpPr>
            <p:cNvPr id="533" name="Google Shape;533;g348782a9c86_0_0"/>
            <p:cNvGrpSpPr/>
            <p:nvPr/>
          </p:nvGrpSpPr>
          <p:grpSpPr>
            <a:xfrm>
              <a:off x="0" y="0"/>
              <a:ext cx="3344266" cy="3344266"/>
              <a:chOff x="0" y="0"/>
              <a:chExt cx="812800" cy="812800"/>
            </a:xfrm>
          </p:grpSpPr>
          <p:sp>
            <p:nvSpPr>
              <p:cNvPr id="534" name="Google Shape;534;g348782a9c86_0_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040926"/>
              </a:solidFill>
              <a:ln>
                <a:noFill/>
              </a:ln>
            </p:spPr>
          </p:sp>
          <p:sp>
            <p:nvSpPr>
              <p:cNvPr id="535" name="Google Shape;535;g348782a9c86_0_0"/>
              <p:cNvSpPr txBox="1"/>
              <p:nvPr/>
            </p:nvSpPr>
            <p:spPr>
              <a:xfrm>
                <a:off x="0" y="0"/>
                <a:ext cx="812700" cy="812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97111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36" name="Google Shape;536;g348782a9c86_0_0"/>
            <p:cNvGrpSpPr/>
            <p:nvPr/>
          </p:nvGrpSpPr>
          <p:grpSpPr>
            <a:xfrm>
              <a:off x="3344267" y="3318450"/>
              <a:ext cx="3344266" cy="3344266"/>
              <a:chOff x="0" y="0"/>
              <a:chExt cx="812800" cy="812800"/>
            </a:xfrm>
          </p:grpSpPr>
          <p:sp>
            <p:nvSpPr>
              <p:cNvPr id="537" name="Google Shape;537;g348782a9c86_0_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040926"/>
              </a:solidFill>
              <a:ln>
                <a:noFill/>
              </a:ln>
            </p:spPr>
          </p:sp>
          <p:sp>
            <p:nvSpPr>
              <p:cNvPr id="538" name="Google Shape;538;g348782a9c86_0_0"/>
              <p:cNvSpPr txBox="1"/>
              <p:nvPr/>
            </p:nvSpPr>
            <p:spPr>
              <a:xfrm>
                <a:off x="0" y="0"/>
                <a:ext cx="812700" cy="812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97111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39" name="Google Shape;539;g348782a9c86_0_0"/>
            <p:cNvGrpSpPr/>
            <p:nvPr/>
          </p:nvGrpSpPr>
          <p:grpSpPr>
            <a:xfrm>
              <a:off x="3344267" y="0"/>
              <a:ext cx="3344266" cy="3344266"/>
              <a:chOff x="0" y="0"/>
              <a:chExt cx="812800" cy="812800"/>
            </a:xfrm>
          </p:grpSpPr>
          <p:sp>
            <p:nvSpPr>
              <p:cNvPr id="540" name="Google Shape;540;g348782a9c86_0_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7D2AE8"/>
              </a:solidFill>
              <a:ln>
                <a:noFill/>
              </a:ln>
            </p:spPr>
          </p:sp>
          <p:sp>
            <p:nvSpPr>
              <p:cNvPr id="541" name="Google Shape;541;g348782a9c86_0_0"/>
              <p:cNvSpPr txBox="1"/>
              <p:nvPr/>
            </p:nvSpPr>
            <p:spPr>
              <a:xfrm>
                <a:off x="0" y="0"/>
                <a:ext cx="812700" cy="812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97111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42" name="Google Shape;542;g348782a9c86_0_0"/>
            <p:cNvGrpSpPr/>
            <p:nvPr/>
          </p:nvGrpSpPr>
          <p:grpSpPr>
            <a:xfrm>
              <a:off x="0" y="3318450"/>
              <a:ext cx="3344266" cy="3344266"/>
              <a:chOff x="0" y="0"/>
              <a:chExt cx="812800" cy="812800"/>
            </a:xfrm>
          </p:grpSpPr>
          <p:sp>
            <p:nvSpPr>
              <p:cNvPr id="543" name="Google Shape;543;g348782a9c86_0_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7D2AE8"/>
              </a:solidFill>
              <a:ln>
                <a:noFill/>
              </a:ln>
            </p:spPr>
          </p:sp>
          <p:sp>
            <p:nvSpPr>
              <p:cNvPr id="544" name="Google Shape;544;g348782a9c86_0_0"/>
              <p:cNvSpPr txBox="1"/>
              <p:nvPr/>
            </p:nvSpPr>
            <p:spPr>
              <a:xfrm>
                <a:off x="0" y="0"/>
                <a:ext cx="812700" cy="812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97111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id="545" name="Google Shape;545;g348782a9c86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147185" y="64500"/>
            <a:ext cx="987050" cy="1137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6" name="Google Shape;546;g348782a9c86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825141" y="1324949"/>
            <a:ext cx="1124220" cy="1118925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g348782a9c86_0_0"/>
          <p:cNvSpPr txBox="1"/>
          <p:nvPr/>
        </p:nvSpPr>
        <p:spPr>
          <a:xfrm>
            <a:off x="559983" y="8680450"/>
            <a:ext cx="11843400" cy="12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DEC0F1"/>
                </a:solidFill>
                <a:latin typeface="Nunito Sans"/>
                <a:ea typeface="Nunito Sans"/>
                <a:cs typeface="Nunito Sans"/>
                <a:sym typeface="Nunito Sans"/>
              </a:rPr>
              <a:t>You can find these fonts online too.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DEC0F1"/>
                </a:solidFill>
                <a:latin typeface="Nunito Sans"/>
                <a:ea typeface="Nunito Sans"/>
                <a:cs typeface="Nunito Sans"/>
                <a:sym typeface="Nunito Sans"/>
              </a:rPr>
              <a:t>Happy designing!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48" name="Google Shape;548;g348782a9c86_0_0"/>
          <p:cNvGrpSpPr/>
          <p:nvPr/>
        </p:nvGrpSpPr>
        <p:grpSpPr>
          <a:xfrm>
            <a:off x="-75" y="2520498"/>
            <a:ext cx="18288130" cy="7766289"/>
            <a:chOff x="-893" y="-28575"/>
            <a:chExt cx="3411710" cy="1344509"/>
          </a:xfrm>
        </p:grpSpPr>
        <p:sp>
          <p:nvSpPr>
            <p:cNvPr id="549" name="Google Shape;549;g348782a9c86_0_0"/>
            <p:cNvSpPr/>
            <p:nvPr/>
          </p:nvSpPr>
          <p:spPr>
            <a:xfrm>
              <a:off x="-893" y="-9"/>
              <a:ext cx="3411710" cy="1315943"/>
            </a:xfrm>
            <a:custGeom>
              <a:rect b="b" l="l" r="r" t="t"/>
              <a:pathLst>
                <a:path extrusionOk="0" h="1315943" w="3411710">
                  <a:moveTo>
                    <a:pt x="0" y="0"/>
                  </a:moveTo>
                  <a:lnTo>
                    <a:pt x="3411710" y="0"/>
                  </a:lnTo>
                  <a:lnTo>
                    <a:pt x="3411710" y="1315943"/>
                  </a:lnTo>
                  <a:lnTo>
                    <a:pt x="0" y="1315943"/>
                  </a:lnTo>
                  <a:close/>
                </a:path>
              </a:pathLst>
            </a:custGeom>
            <a:solidFill>
              <a:srgbClr val="7D2AE8"/>
            </a:solidFill>
            <a:ln>
              <a:noFill/>
            </a:ln>
          </p:spPr>
        </p:sp>
        <p:sp>
          <p:nvSpPr>
            <p:cNvPr id="550" name="Google Shape;550;g348782a9c86_0_0"/>
            <p:cNvSpPr txBox="1"/>
            <p:nvPr/>
          </p:nvSpPr>
          <p:spPr>
            <a:xfrm>
              <a:off x="0" y="-28575"/>
              <a:ext cx="812700" cy="84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05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51" name="Google Shape;551;g348782a9c86_0_0"/>
          <p:cNvSpPr txBox="1"/>
          <p:nvPr/>
        </p:nvSpPr>
        <p:spPr>
          <a:xfrm>
            <a:off x="1204700" y="2824875"/>
            <a:ext cx="125637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n-US" sz="3900">
                <a:solidFill>
                  <a:srgbClr val="DEC0F1"/>
                </a:solidFill>
                <a:latin typeface="Nunito Sans"/>
                <a:ea typeface="Nunito Sans"/>
                <a:cs typeface="Nunito Sans"/>
                <a:sym typeface="Nunito Sans"/>
              </a:rPr>
              <a:t>Domenii în care se poate folosi algoritmul lui Grover:</a:t>
            </a:r>
            <a:endParaRPr sz="3900">
              <a:solidFill>
                <a:srgbClr val="DEC0F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552" name="Google Shape;552;g348782a9c86_0_0"/>
          <p:cNvSpPr txBox="1"/>
          <p:nvPr/>
        </p:nvSpPr>
        <p:spPr>
          <a:xfrm>
            <a:off x="-604900" y="10978249"/>
            <a:ext cx="11843400" cy="14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69873" lvl="1" marL="539748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DEC0F1"/>
              </a:buClr>
              <a:buSzPts val="2499"/>
              <a:buFont typeface="Arial"/>
              <a:buChar char="•"/>
            </a:pPr>
            <a:r>
              <a:rPr b="0" i="0" lang="en-US" sz="2499" u="none" cap="none" strike="noStrike">
                <a:solidFill>
                  <a:srgbClr val="DEC0F1"/>
                </a:solidFill>
                <a:latin typeface="Nunito Sans"/>
                <a:ea typeface="Nunito Sans"/>
                <a:cs typeface="Nunito Sans"/>
                <a:sym typeface="Nunito Sans"/>
              </a:rPr>
              <a:t>Titles: Russo One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9873" lvl="1" marL="539748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DEC0F1"/>
              </a:buClr>
              <a:buSzPts val="2499"/>
              <a:buFont typeface="Arial"/>
              <a:buChar char="•"/>
            </a:pPr>
            <a:r>
              <a:rPr b="0" i="0" lang="en-US" sz="2499" u="none" cap="none" strike="noStrike">
                <a:solidFill>
                  <a:srgbClr val="DEC0F1"/>
                </a:solidFill>
                <a:latin typeface="Nunito Sans"/>
                <a:ea typeface="Nunito Sans"/>
                <a:cs typeface="Nunito Sans"/>
                <a:sym typeface="Nunito Sans"/>
              </a:rPr>
              <a:t>Headers: Nunito Sans Regular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9875" lvl="1" marL="53975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EC0F1"/>
              </a:buClr>
              <a:buSzPts val="2500"/>
              <a:buFont typeface="Arial"/>
              <a:buChar char="•"/>
            </a:pPr>
            <a:r>
              <a:rPr b="0" i="0" lang="en-US" sz="2500" u="none" cap="none" strike="noStrike">
                <a:solidFill>
                  <a:srgbClr val="DEC0F1"/>
                </a:solidFill>
                <a:latin typeface="Nunito Sans"/>
                <a:ea typeface="Nunito Sans"/>
                <a:cs typeface="Nunito Sans"/>
                <a:sym typeface="Nunito Sans"/>
              </a:rPr>
              <a:t>Body Copy: Nunito Sans Regular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g348782a9c86_0_0"/>
          <p:cNvSpPr txBox="1"/>
          <p:nvPr/>
        </p:nvSpPr>
        <p:spPr>
          <a:xfrm>
            <a:off x="617301" y="886375"/>
            <a:ext cx="16647000" cy="12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36"/>
              <a:buFont typeface="Arial"/>
              <a:buNone/>
            </a:pPr>
            <a:r>
              <a:rPr lang="en-US" sz="8336">
                <a:solidFill>
                  <a:srgbClr val="040926"/>
                </a:solidFill>
                <a:latin typeface="Russo One"/>
                <a:ea typeface="Russo One"/>
                <a:cs typeface="Russo One"/>
                <a:sym typeface="Russo One"/>
              </a:rPr>
              <a:t>Aplicatii practice</a:t>
            </a:r>
            <a:endParaRPr sz="8336">
              <a:solidFill>
                <a:srgbClr val="040926"/>
              </a:solidFill>
              <a:latin typeface="Russo One"/>
              <a:ea typeface="Russo One"/>
              <a:cs typeface="Russo One"/>
              <a:sym typeface="Russo One"/>
            </a:endParaRPr>
          </a:p>
        </p:txBody>
      </p:sp>
      <p:grpSp>
        <p:nvGrpSpPr>
          <p:cNvPr id="554" name="Google Shape;554;g348782a9c86_0_0"/>
          <p:cNvGrpSpPr/>
          <p:nvPr/>
        </p:nvGrpSpPr>
        <p:grpSpPr>
          <a:xfrm>
            <a:off x="559975" y="2848327"/>
            <a:ext cx="549290" cy="568686"/>
            <a:chOff x="0" y="-28575"/>
            <a:chExt cx="812800" cy="841500"/>
          </a:xfrm>
        </p:grpSpPr>
        <p:sp>
          <p:nvSpPr>
            <p:cNvPr id="555" name="Google Shape;555;g348782a9c86_0_0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40926"/>
            </a:solidFill>
            <a:ln>
              <a:noFill/>
            </a:ln>
          </p:spPr>
        </p:sp>
        <p:sp>
          <p:nvSpPr>
            <p:cNvPr id="556" name="Google Shape;556;g348782a9c86_0_0"/>
            <p:cNvSpPr txBox="1"/>
            <p:nvPr/>
          </p:nvSpPr>
          <p:spPr>
            <a:xfrm>
              <a:off x="0" y="-28575"/>
              <a:ext cx="812700" cy="84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05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57" name="Google Shape;557;g348782a9c86_0_0"/>
          <p:cNvSpPr txBox="1"/>
          <p:nvPr/>
        </p:nvSpPr>
        <p:spPr>
          <a:xfrm>
            <a:off x="1204700" y="3440475"/>
            <a:ext cx="15086700" cy="53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19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EC0F1"/>
              </a:buClr>
              <a:buSzPts val="2100"/>
              <a:buFont typeface="Nunito Sans"/>
              <a:buChar char="●"/>
            </a:pPr>
            <a:r>
              <a:rPr lang="en-US" sz="2100">
                <a:solidFill>
                  <a:srgbClr val="DEC0F1"/>
                </a:solidFill>
                <a:latin typeface="Nunito Sans"/>
                <a:ea typeface="Nunito Sans"/>
                <a:cs typeface="Nunito Sans"/>
                <a:sym typeface="Nunito Sans"/>
              </a:rPr>
              <a:t>Criptografie: Spargerea cheilor simetrice de 128 de biți (reduce căutarea de la 2^128 la 2^64):</a:t>
            </a:r>
            <a:endParaRPr sz="2100">
              <a:solidFill>
                <a:srgbClr val="DEC0F1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-3619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EC0F1"/>
              </a:buClr>
              <a:buSzPts val="2100"/>
              <a:buFont typeface="Nunito Sans"/>
              <a:buChar char="○"/>
            </a:pPr>
            <a:r>
              <a:rPr lang="en-US" sz="2100">
                <a:solidFill>
                  <a:srgbClr val="DEC0F1"/>
                </a:solidFill>
                <a:latin typeface="Nunito Sans"/>
                <a:ea typeface="Nunito Sans"/>
                <a:cs typeface="Nunito Sans"/>
                <a:sym typeface="Nunito Sans"/>
              </a:rPr>
              <a:t>Ex: AES-128 (Advanced Encryption Standard) </a:t>
            </a:r>
            <a:endParaRPr sz="2100">
              <a:solidFill>
                <a:srgbClr val="DEC0F1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-3619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EC0F1"/>
              </a:buClr>
              <a:buSzPts val="2100"/>
              <a:buFont typeface="Nunito Sans"/>
              <a:buChar char="■"/>
            </a:pPr>
            <a:r>
              <a:rPr lang="en-US" sz="2100">
                <a:solidFill>
                  <a:srgbClr val="DEC0F1"/>
                </a:solidFill>
                <a:latin typeface="Nunito Sans"/>
                <a:ea typeface="Nunito Sans"/>
                <a:cs typeface="Nunito Sans"/>
                <a:sym typeface="Nunito Sans"/>
              </a:rPr>
              <a:t>Clasic</a:t>
            </a:r>
            <a:r>
              <a:rPr lang="en-US" sz="2100">
                <a:solidFill>
                  <a:srgbClr val="DEC0F1"/>
                </a:solidFill>
                <a:latin typeface="Nunito Sans"/>
                <a:ea typeface="Nunito Sans"/>
                <a:cs typeface="Nunito Sans"/>
                <a:sym typeface="Nunito Sans"/>
              </a:rPr>
              <a:t>: 2^128 încercări</a:t>
            </a:r>
            <a:endParaRPr sz="2100">
              <a:solidFill>
                <a:srgbClr val="DEC0F1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-3619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EC0F1"/>
              </a:buClr>
              <a:buSzPts val="2100"/>
              <a:buFont typeface="Nunito Sans"/>
              <a:buChar char="■"/>
            </a:pPr>
            <a:r>
              <a:rPr lang="en-US" sz="2100">
                <a:solidFill>
                  <a:srgbClr val="DEC0F1"/>
                </a:solidFill>
                <a:latin typeface="Nunito Sans"/>
                <a:ea typeface="Nunito Sans"/>
                <a:cs typeface="Nunito Sans"/>
                <a:sym typeface="Nunito Sans"/>
              </a:rPr>
              <a:t>Cuantic (Grover): ~ 2^64 - încă greu, dar mult mai fezabil</a:t>
            </a:r>
            <a:endParaRPr sz="2100">
              <a:solidFill>
                <a:srgbClr val="DEC0F1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DEC0F1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-3619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EC0F1"/>
              </a:buClr>
              <a:buSzPts val="2100"/>
              <a:buFont typeface="Nunito Sans"/>
              <a:buChar char="●"/>
            </a:pPr>
            <a:r>
              <a:rPr lang="en-US" sz="2100">
                <a:solidFill>
                  <a:srgbClr val="DEC0F1"/>
                </a:solidFill>
                <a:latin typeface="Nunito Sans"/>
                <a:ea typeface="Nunito Sans"/>
                <a:cs typeface="Nunito Sans"/>
                <a:sym typeface="Nunito Sans"/>
              </a:rPr>
              <a:t>Optimizare: Algoritmul poate fi folosit pentru probleme de optimizare combinatorică precum:</a:t>
            </a:r>
            <a:endParaRPr sz="2100">
              <a:solidFill>
                <a:srgbClr val="DEC0F1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-3619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EC0F1"/>
              </a:buClr>
              <a:buSzPts val="2100"/>
              <a:buFont typeface="Nunito Sans"/>
              <a:buChar char="○"/>
            </a:pPr>
            <a:r>
              <a:rPr lang="en-US" sz="2100">
                <a:solidFill>
                  <a:srgbClr val="DEC0F1"/>
                </a:solidFill>
                <a:latin typeface="Nunito Sans"/>
                <a:ea typeface="Nunito Sans"/>
                <a:cs typeface="Nunito Sans"/>
                <a:sym typeface="Nunito Sans"/>
              </a:rPr>
              <a:t>Planificare (scheduling)</a:t>
            </a:r>
            <a:endParaRPr sz="2100">
              <a:solidFill>
                <a:srgbClr val="DEC0F1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-3619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EC0F1"/>
              </a:buClr>
              <a:buSzPts val="2100"/>
              <a:buFont typeface="Nunito Sans"/>
              <a:buChar char="○"/>
            </a:pPr>
            <a:r>
              <a:rPr lang="en-US" sz="2100">
                <a:solidFill>
                  <a:srgbClr val="DEC0F1"/>
                </a:solidFill>
                <a:latin typeface="Nunito Sans"/>
                <a:ea typeface="Nunito Sans"/>
                <a:cs typeface="Nunito Sans"/>
                <a:sym typeface="Nunito Sans"/>
              </a:rPr>
              <a:t>Routing (ex: rețele de transport/logistică)</a:t>
            </a:r>
            <a:endParaRPr sz="2100">
              <a:solidFill>
                <a:srgbClr val="DEC0F1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-3619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EC0F1"/>
              </a:buClr>
              <a:buSzPts val="2100"/>
              <a:buFont typeface="Nunito Sans"/>
              <a:buChar char="○"/>
            </a:pPr>
            <a:r>
              <a:rPr lang="en-US" sz="2100">
                <a:solidFill>
                  <a:srgbClr val="DEC0F1"/>
                </a:solidFill>
                <a:latin typeface="Nunito Sans"/>
                <a:ea typeface="Nunito Sans"/>
                <a:cs typeface="Nunito Sans"/>
                <a:sym typeface="Nunito Sans"/>
              </a:rPr>
              <a:t>Probleme de satisifiabilitate (SAT)</a:t>
            </a:r>
            <a:endParaRPr sz="2100">
              <a:solidFill>
                <a:srgbClr val="DEC0F1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-3619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EC0F1"/>
              </a:buClr>
              <a:buSzPts val="2100"/>
              <a:buFont typeface="Nunito Sans"/>
              <a:buChar char="❖"/>
            </a:pPr>
            <a:r>
              <a:rPr lang="en-US" sz="2100">
                <a:solidFill>
                  <a:srgbClr val="DEC0F1"/>
                </a:solidFill>
                <a:latin typeface="Nunito Sans"/>
                <a:ea typeface="Nunito Sans"/>
                <a:cs typeface="Nunito Sans"/>
                <a:sym typeface="Nunito Sans"/>
              </a:rPr>
              <a:t>Cum ajută: Se poate folosi Grover pentru a "testa rapid" variante și a reduce timpul de căutare în spații mari de soluții.</a:t>
            </a:r>
            <a:endParaRPr sz="2100">
              <a:solidFill>
                <a:srgbClr val="DEC0F1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DEC0F1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-3619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EC0F1"/>
              </a:buClr>
              <a:buSzPts val="2100"/>
              <a:buFont typeface="Nunito Sans"/>
              <a:buChar char="●"/>
            </a:pPr>
            <a:r>
              <a:rPr lang="en-US" sz="2100">
                <a:solidFill>
                  <a:srgbClr val="DEC0F1"/>
                </a:solidFill>
                <a:latin typeface="Nunito Sans"/>
                <a:ea typeface="Nunito Sans"/>
                <a:cs typeface="Nunito Sans"/>
                <a:sym typeface="Nunito Sans"/>
              </a:rPr>
              <a:t>Inteligența Artificială &amp; Machine Learning: Accelerarea căutărilor în:</a:t>
            </a:r>
            <a:endParaRPr sz="2100">
              <a:solidFill>
                <a:srgbClr val="DEC0F1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-3619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EC0F1"/>
              </a:buClr>
              <a:buSzPts val="2100"/>
              <a:buFont typeface="Nunito Sans"/>
              <a:buChar char="○"/>
            </a:pPr>
            <a:r>
              <a:rPr lang="en-US" sz="2100">
                <a:solidFill>
                  <a:srgbClr val="DEC0F1"/>
                </a:solidFill>
                <a:latin typeface="Nunito Sans"/>
                <a:ea typeface="Nunito Sans"/>
                <a:cs typeface="Nunito Sans"/>
                <a:sym typeface="Nunito Sans"/>
              </a:rPr>
              <a:t>seturi mari de date</a:t>
            </a:r>
            <a:endParaRPr sz="2100">
              <a:solidFill>
                <a:srgbClr val="DEC0F1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-3619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EC0F1"/>
              </a:buClr>
              <a:buSzPts val="2100"/>
              <a:buFont typeface="Nunito Sans"/>
              <a:buChar char="○"/>
            </a:pPr>
            <a:r>
              <a:rPr lang="en-US" sz="2100">
                <a:solidFill>
                  <a:srgbClr val="DEC0F1"/>
                </a:solidFill>
                <a:latin typeface="Nunito Sans"/>
                <a:ea typeface="Nunito Sans"/>
                <a:cs typeface="Nunito Sans"/>
                <a:sym typeface="Nunito Sans"/>
              </a:rPr>
              <a:t>spații de hiperparametri în antrenarea modelelor ML</a:t>
            </a:r>
            <a:endParaRPr sz="2100">
              <a:solidFill>
                <a:srgbClr val="DEC0F1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-3619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EC0F1"/>
              </a:buClr>
              <a:buSzPts val="2100"/>
              <a:buFont typeface="Nunito Sans"/>
              <a:buChar char="○"/>
            </a:pPr>
            <a:r>
              <a:rPr lang="en-US" sz="2100">
                <a:solidFill>
                  <a:srgbClr val="DEC0F1"/>
                </a:solidFill>
                <a:latin typeface="Nunito Sans"/>
                <a:ea typeface="Nunito Sans"/>
                <a:cs typeface="Nunito Sans"/>
                <a:sym typeface="Nunito Sans"/>
              </a:rPr>
              <a:t>Recuperarea informației </a:t>
            </a:r>
            <a:endParaRPr sz="2100">
              <a:solidFill>
                <a:srgbClr val="DEC0F1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-3619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EC0F1"/>
              </a:buClr>
              <a:buSzPts val="2100"/>
              <a:buFont typeface="Nunito Sans"/>
              <a:buChar char="❖"/>
            </a:pPr>
            <a:r>
              <a:rPr lang="en-US" sz="2100">
                <a:solidFill>
                  <a:srgbClr val="DEC0F1"/>
                </a:solidFill>
                <a:latin typeface="Nunito Sans"/>
                <a:ea typeface="Nunito Sans"/>
                <a:cs typeface="Nunito Sans"/>
                <a:sym typeface="Nunito Sans"/>
              </a:rPr>
              <a:t>Grover poate fi integrat cu alte algoritmi cuantici pentru a crea hibrizi QML (Quantum Machine Learning).</a:t>
            </a:r>
            <a:endParaRPr sz="2100">
              <a:solidFill>
                <a:srgbClr val="DEC0F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558" name="Google Shape;558;g348782a9c86_0_0"/>
          <p:cNvSpPr txBox="1"/>
          <p:nvPr/>
        </p:nvSpPr>
        <p:spPr>
          <a:xfrm>
            <a:off x="4084925" y="1156950"/>
            <a:ext cx="644700" cy="12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36"/>
              <a:buFont typeface="Arial"/>
              <a:buNone/>
            </a:pPr>
            <a:r>
              <a:rPr lang="en-US" sz="8336">
                <a:solidFill>
                  <a:srgbClr val="040926"/>
                </a:solidFill>
                <a:latin typeface="Russo One"/>
                <a:ea typeface="Russo One"/>
                <a:cs typeface="Russo One"/>
                <a:sym typeface="Russo One"/>
              </a:rPr>
              <a:t>,</a:t>
            </a:r>
            <a:endParaRPr sz="8336">
              <a:solidFill>
                <a:srgbClr val="040926"/>
              </a:solidFill>
              <a:latin typeface="Russo One"/>
              <a:ea typeface="Russo One"/>
              <a:cs typeface="Russo One"/>
              <a:sym typeface="Russo One"/>
            </a:endParaRPr>
          </a:p>
        </p:txBody>
      </p:sp>
      <p:pic>
        <p:nvPicPr>
          <p:cNvPr id="559" name="Google Shape;559;g348782a9c86_0_0" title="Grover Hexagon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162175" y="2848337"/>
            <a:ext cx="4972051" cy="3314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EC0F1"/>
        </a:solidFill>
      </p:bgPr>
    </p:bg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4" name="Google Shape;564;g348782a9c86_0_40"/>
          <p:cNvGrpSpPr/>
          <p:nvPr/>
        </p:nvGrpSpPr>
        <p:grpSpPr>
          <a:xfrm>
            <a:off x="15745701" y="1"/>
            <a:ext cx="2542311" cy="2520505"/>
            <a:chOff x="0" y="0"/>
            <a:chExt cx="6688533" cy="6662716"/>
          </a:xfrm>
        </p:grpSpPr>
        <p:grpSp>
          <p:nvGrpSpPr>
            <p:cNvPr id="565" name="Google Shape;565;g348782a9c86_0_40"/>
            <p:cNvGrpSpPr/>
            <p:nvPr/>
          </p:nvGrpSpPr>
          <p:grpSpPr>
            <a:xfrm>
              <a:off x="0" y="0"/>
              <a:ext cx="3344266" cy="3344266"/>
              <a:chOff x="0" y="0"/>
              <a:chExt cx="812800" cy="812800"/>
            </a:xfrm>
          </p:grpSpPr>
          <p:sp>
            <p:nvSpPr>
              <p:cNvPr id="566" name="Google Shape;566;g348782a9c86_0_4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040926"/>
              </a:solidFill>
              <a:ln>
                <a:noFill/>
              </a:ln>
            </p:spPr>
          </p:sp>
          <p:sp>
            <p:nvSpPr>
              <p:cNvPr id="567" name="Google Shape;567;g348782a9c86_0_40"/>
              <p:cNvSpPr txBox="1"/>
              <p:nvPr/>
            </p:nvSpPr>
            <p:spPr>
              <a:xfrm>
                <a:off x="0" y="0"/>
                <a:ext cx="812700" cy="812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97111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68" name="Google Shape;568;g348782a9c86_0_40"/>
            <p:cNvGrpSpPr/>
            <p:nvPr/>
          </p:nvGrpSpPr>
          <p:grpSpPr>
            <a:xfrm>
              <a:off x="3344267" y="3318450"/>
              <a:ext cx="3344266" cy="3344266"/>
              <a:chOff x="0" y="0"/>
              <a:chExt cx="812800" cy="812800"/>
            </a:xfrm>
          </p:grpSpPr>
          <p:sp>
            <p:nvSpPr>
              <p:cNvPr id="569" name="Google Shape;569;g348782a9c86_0_4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040926"/>
              </a:solidFill>
              <a:ln>
                <a:noFill/>
              </a:ln>
            </p:spPr>
          </p:sp>
          <p:sp>
            <p:nvSpPr>
              <p:cNvPr id="570" name="Google Shape;570;g348782a9c86_0_40"/>
              <p:cNvSpPr txBox="1"/>
              <p:nvPr/>
            </p:nvSpPr>
            <p:spPr>
              <a:xfrm>
                <a:off x="0" y="0"/>
                <a:ext cx="812700" cy="812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97111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71" name="Google Shape;571;g348782a9c86_0_40"/>
            <p:cNvGrpSpPr/>
            <p:nvPr/>
          </p:nvGrpSpPr>
          <p:grpSpPr>
            <a:xfrm>
              <a:off x="3344267" y="0"/>
              <a:ext cx="3344266" cy="3344266"/>
              <a:chOff x="0" y="0"/>
              <a:chExt cx="812800" cy="812800"/>
            </a:xfrm>
          </p:grpSpPr>
          <p:sp>
            <p:nvSpPr>
              <p:cNvPr id="572" name="Google Shape;572;g348782a9c86_0_4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7D2AE8"/>
              </a:solidFill>
              <a:ln>
                <a:noFill/>
              </a:ln>
            </p:spPr>
          </p:sp>
          <p:sp>
            <p:nvSpPr>
              <p:cNvPr id="573" name="Google Shape;573;g348782a9c86_0_40"/>
              <p:cNvSpPr txBox="1"/>
              <p:nvPr/>
            </p:nvSpPr>
            <p:spPr>
              <a:xfrm>
                <a:off x="0" y="0"/>
                <a:ext cx="812700" cy="812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97111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74" name="Google Shape;574;g348782a9c86_0_40"/>
            <p:cNvGrpSpPr/>
            <p:nvPr/>
          </p:nvGrpSpPr>
          <p:grpSpPr>
            <a:xfrm>
              <a:off x="0" y="3318450"/>
              <a:ext cx="3344266" cy="3344266"/>
              <a:chOff x="0" y="0"/>
              <a:chExt cx="812800" cy="812800"/>
            </a:xfrm>
          </p:grpSpPr>
          <p:sp>
            <p:nvSpPr>
              <p:cNvPr id="575" name="Google Shape;575;g348782a9c86_0_4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7D2AE8"/>
              </a:solidFill>
              <a:ln>
                <a:noFill/>
              </a:ln>
            </p:spPr>
          </p:sp>
          <p:sp>
            <p:nvSpPr>
              <p:cNvPr id="576" name="Google Shape;576;g348782a9c86_0_40"/>
              <p:cNvSpPr txBox="1"/>
              <p:nvPr/>
            </p:nvSpPr>
            <p:spPr>
              <a:xfrm>
                <a:off x="0" y="0"/>
                <a:ext cx="812700" cy="812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97111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id="577" name="Google Shape;577;g348782a9c86_0_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147185" y="64500"/>
            <a:ext cx="987050" cy="1137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8" name="Google Shape;578;g348782a9c86_0_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825141" y="1324949"/>
            <a:ext cx="1124220" cy="1118925"/>
          </a:xfrm>
          <a:prstGeom prst="rect">
            <a:avLst/>
          </a:prstGeom>
          <a:noFill/>
          <a:ln>
            <a:noFill/>
          </a:ln>
        </p:spPr>
      </p:pic>
      <p:sp>
        <p:nvSpPr>
          <p:cNvPr id="579" name="Google Shape;579;g348782a9c86_0_40"/>
          <p:cNvSpPr txBox="1"/>
          <p:nvPr/>
        </p:nvSpPr>
        <p:spPr>
          <a:xfrm>
            <a:off x="559983" y="8680450"/>
            <a:ext cx="11843400" cy="12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DEC0F1"/>
                </a:solidFill>
                <a:latin typeface="Nunito Sans"/>
                <a:ea typeface="Nunito Sans"/>
                <a:cs typeface="Nunito Sans"/>
                <a:sym typeface="Nunito Sans"/>
              </a:rPr>
              <a:t>You can find these fonts online too.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DEC0F1"/>
                </a:solidFill>
                <a:latin typeface="Nunito Sans"/>
                <a:ea typeface="Nunito Sans"/>
                <a:cs typeface="Nunito Sans"/>
                <a:sym typeface="Nunito Sans"/>
              </a:rPr>
              <a:t>Happy designing!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80" name="Google Shape;580;g348782a9c86_0_40"/>
          <p:cNvGrpSpPr/>
          <p:nvPr/>
        </p:nvGrpSpPr>
        <p:grpSpPr>
          <a:xfrm>
            <a:off x="-75" y="2520498"/>
            <a:ext cx="18288130" cy="7766289"/>
            <a:chOff x="-893" y="-28575"/>
            <a:chExt cx="3411710" cy="1344509"/>
          </a:xfrm>
        </p:grpSpPr>
        <p:sp>
          <p:nvSpPr>
            <p:cNvPr id="581" name="Google Shape;581;g348782a9c86_0_40"/>
            <p:cNvSpPr/>
            <p:nvPr/>
          </p:nvSpPr>
          <p:spPr>
            <a:xfrm>
              <a:off x="-893" y="-9"/>
              <a:ext cx="3411710" cy="1315943"/>
            </a:xfrm>
            <a:custGeom>
              <a:rect b="b" l="l" r="r" t="t"/>
              <a:pathLst>
                <a:path extrusionOk="0" h="1315943" w="3411710">
                  <a:moveTo>
                    <a:pt x="0" y="0"/>
                  </a:moveTo>
                  <a:lnTo>
                    <a:pt x="3411710" y="0"/>
                  </a:lnTo>
                  <a:lnTo>
                    <a:pt x="3411710" y="1315943"/>
                  </a:lnTo>
                  <a:lnTo>
                    <a:pt x="0" y="1315943"/>
                  </a:lnTo>
                  <a:close/>
                </a:path>
              </a:pathLst>
            </a:custGeom>
            <a:solidFill>
              <a:srgbClr val="7D2AE8"/>
            </a:solidFill>
            <a:ln>
              <a:noFill/>
            </a:ln>
          </p:spPr>
        </p:sp>
        <p:sp>
          <p:nvSpPr>
            <p:cNvPr id="582" name="Google Shape;582;g348782a9c86_0_40"/>
            <p:cNvSpPr txBox="1"/>
            <p:nvPr/>
          </p:nvSpPr>
          <p:spPr>
            <a:xfrm>
              <a:off x="0" y="-28575"/>
              <a:ext cx="812700" cy="84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05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83" name="Google Shape;583;g348782a9c86_0_40"/>
          <p:cNvSpPr txBox="1"/>
          <p:nvPr/>
        </p:nvSpPr>
        <p:spPr>
          <a:xfrm>
            <a:off x="-604900" y="10978249"/>
            <a:ext cx="11843400" cy="14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69873" lvl="1" marL="539748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DEC0F1"/>
              </a:buClr>
              <a:buSzPts val="2499"/>
              <a:buFont typeface="Arial"/>
              <a:buChar char="•"/>
            </a:pPr>
            <a:r>
              <a:rPr b="0" i="0" lang="en-US" sz="2499" u="none" cap="none" strike="noStrike">
                <a:solidFill>
                  <a:srgbClr val="DEC0F1"/>
                </a:solidFill>
                <a:latin typeface="Nunito Sans"/>
                <a:ea typeface="Nunito Sans"/>
                <a:cs typeface="Nunito Sans"/>
                <a:sym typeface="Nunito Sans"/>
              </a:rPr>
              <a:t>Titles: Russo One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9873" lvl="1" marL="539748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DEC0F1"/>
              </a:buClr>
              <a:buSzPts val="2499"/>
              <a:buFont typeface="Arial"/>
              <a:buChar char="•"/>
            </a:pPr>
            <a:r>
              <a:rPr b="0" i="0" lang="en-US" sz="2499" u="none" cap="none" strike="noStrike">
                <a:solidFill>
                  <a:srgbClr val="DEC0F1"/>
                </a:solidFill>
                <a:latin typeface="Nunito Sans"/>
                <a:ea typeface="Nunito Sans"/>
                <a:cs typeface="Nunito Sans"/>
                <a:sym typeface="Nunito Sans"/>
              </a:rPr>
              <a:t>Headers: Nunito Sans Regular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9875" lvl="1" marL="53975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EC0F1"/>
              </a:buClr>
              <a:buSzPts val="2500"/>
              <a:buFont typeface="Arial"/>
              <a:buChar char="•"/>
            </a:pPr>
            <a:r>
              <a:rPr b="0" i="0" lang="en-US" sz="2500" u="none" cap="none" strike="noStrike">
                <a:solidFill>
                  <a:srgbClr val="DEC0F1"/>
                </a:solidFill>
                <a:latin typeface="Nunito Sans"/>
                <a:ea typeface="Nunito Sans"/>
                <a:cs typeface="Nunito Sans"/>
                <a:sym typeface="Nunito Sans"/>
              </a:rPr>
              <a:t>Body Copy: Nunito Sans Regular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4" name="Google Shape;584;g348782a9c86_0_40"/>
          <p:cNvSpPr txBox="1"/>
          <p:nvPr/>
        </p:nvSpPr>
        <p:spPr>
          <a:xfrm>
            <a:off x="617301" y="886375"/>
            <a:ext cx="16647000" cy="12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36"/>
              <a:buFont typeface="Arial"/>
              <a:buNone/>
            </a:pPr>
            <a:r>
              <a:rPr lang="en-US" sz="8336">
                <a:solidFill>
                  <a:srgbClr val="040926"/>
                </a:solidFill>
                <a:latin typeface="Russo One"/>
                <a:ea typeface="Russo One"/>
                <a:cs typeface="Russo One"/>
                <a:sym typeface="Russo One"/>
              </a:rPr>
              <a:t>Concluzii</a:t>
            </a:r>
            <a:endParaRPr sz="8336">
              <a:solidFill>
                <a:srgbClr val="040926"/>
              </a:solidFill>
              <a:latin typeface="Russo One"/>
              <a:ea typeface="Russo One"/>
              <a:cs typeface="Russo One"/>
              <a:sym typeface="Russo One"/>
            </a:endParaRPr>
          </a:p>
        </p:txBody>
      </p:sp>
      <p:sp>
        <p:nvSpPr>
          <p:cNvPr id="585" name="Google Shape;585;g348782a9c86_0_40"/>
          <p:cNvSpPr txBox="1"/>
          <p:nvPr/>
        </p:nvSpPr>
        <p:spPr>
          <a:xfrm>
            <a:off x="617300" y="2851125"/>
            <a:ext cx="12129300" cy="22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DEC0F1"/>
                </a:solidFill>
                <a:latin typeface="Nunito Sans"/>
                <a:ea typeface="Nunito Sans"/>
                <a:cs typeface="Nunito Sans"/>
                <a:sym typeface="Nunito Sans"/>
              </a:rPr>
              <a:t>✅ 1. Algoritmul lui Grover aduce un avantaj cuantic clar</a:t>
            </a:r>
            <a:endParaRPr sz="2200">
              <a:solidFill>
                <a:srgbClr val="DEC0F1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EC0F1"/>
              </a:buClr>
              <a:buSzPts val="2200"/>
              <a:buFont typeface="Nunito Sans"/>
              <a:buChar char="●"/>
            </a:pPr>
            <a:r>
              <a:rPr lang="en-US" sz="2200">
                <a:solidFill>
                  <a:srgbClr val="DEC0F1"/>
                </a:solidFill>
                <a:latin typeface="Nunito Sans"/>
                <a:ea typeface="Nunito Sans"/>
                <a:cs typeface="Nunito Sans"/>
                <a:sym typeface="Nunito Sans"/>
              </a:rPr>
              <a:t>Caută într-un spațiu neordonat de dimensiune N în doar O(√N) pași.</a:t>
            </a:r>
            <a:br>
              <a:rPr lang="en-US" sz="2200">
                <a:solidFill>
                  <a:srgbClr val="DEC0F1"/>
                </a:solidFill>
                <a:latin typeface="Nunito Sans"/>
                <a:ea typeface="Nunito Sans"/>
                <a:cs typeface="Nunito Sans"/>
                <a:sym typeface="Nunito Sans"/>
              </a:rPr>
            </a:br>
            <a:endParaRPr sz="2200">
              <a:solidFill>
                <a:srgbClr val="DEC0F1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EC0F1"/>
              </a:buClr>
              <a:buSzPts val="2200"/>
              <a:buFont typeface="Nunito Sans"/>
              <a:buChar char="●"/>
            </a:pPr>
            <a:r>
              <a:rPr lang="en-US" sz="2200">
                <a:solidFill>
                  <a:srgbClr val="DEC0F1"/>
                </a:solidFill>
                <a:latin typeface="Nunito Sans"/>
                <a:ea typeface="Nunito Sans"/>
                <a:cs typeface="Nunito Sans"/>
                <a:sym typeface="Nunito Sans"/>
              </a:rPr>
              <a:t>Asta înseamnă avantaj cuantic semnificativ față de metodele brute-force clasice.</a:t>
            </a:r>
            <a:br>
              <a:rPr lang="en-US" sz="2200">
                <a:solidFill>
                  <a:srgbClr val="DEC0F1"/>
                </a:solidFill>
                <a:latin typeface="Nunito Sans"/>
                <a:ea typeface="Nunito Sans"/>
                <a:cs typeface="Nunito Sans"/>
                <a:sym typeface="Nunito Sans"/>
              </a:rPr>
            </a:br>
            <a:endParaRPr sz="2200">
              <a:solidFill>
                <a:srgbClr val="DEC0F1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EC0F1"/>
              </a:buClr>
              <a:buSzPts val="2200"/>
              <a:buFont typeface="Nunito Sans"/>
              <a:buChar char="●"/>
            </a:pPr>
            <a:r>
              <a:rPr lang="en-US" sz="2200">
                <a:solidFill>
                  <a:srgbClr val="DEC0F1"/>
                </a:solidFill>
                <a:latin typeface="Nunito Sans"/>
                <a:ea typeface="Nunito Sans"/>
                <a:cs typeface="Nunito Sans"/>
                <a:sym typeface="Nunito Sans"/>
              </a:rPr>
              <a:t>Este unul dintre cele mai importante exemple de „quantum speedup”.</a:t>
            </a:r>
            <a:endParaRPr sz="800">
              <a:solidFill>
                <a:schemeClr val="dk1"/>
              </a:solidFill>
            </a:endParaRPr>
          </a:p>
        </p:txBody>
      </p:sp>
      <p:sp>
        <p:nvSpPr>
          <p:cNvPr id="586" name="Google Shape;586;g348782a9c86_0_40"/>
          <p:cNvSpPr txBox="1"/>
          <p:nvPr/>
        </p:nvSpPr>
        <p:spPr>
          <a:xfrm>
            <a:off x="617300" y="5126088"/>
            <a:ext cx="156489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DEC0F1"/>
                </a:solidFill>
                <a:latin typeface="Nunito Sans"/>
                <a:ea typeface="Nunito Sans"/>
                <a:cs typeface="Nunito Sans"/>
                <a:sym typeface="Nunito Sans"/>
              </a:rPr>
              <a:t>✅ 2. Implementabil pe calculatoare cuantice reale</a:t>
            </a:r>
            <a:endParaRPr sz="2200">
              <a:solidFill>
                <a:srgbClr val="DEC0F1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EC0F1"/>
              </a:buClr>
              <a:buSzPts val="2200"/>
              <a:buFont typeface="Nunito Sans"/>
              <a:buChar char="●"/>
            </a:pPr>
            <a:r>
              <a:rPr lang="en-US" sz="2200">
                <a:solidFill>
                  <a:srgbClr val="DEC0F1"/>
                </a:solidFill>
                <a:latin typeface="Nunito Sans"/>
                <a:ea typeface="Nunito Sans"/>
                <a:cs typeface="Nunito Sans"/>
                <a:sym typeface="Nunito Sans"/>
              </a:rPr>
              <a:t>Deși calculatoarele cuantice actuale sunt limitate (număr mic de qubiți, zgomot), versiuni simple ale algoritmului Grover pot fi deja testate pe: </a:t>
            </a:r>
            <a:endParaRPr sz="2200">
              <a:solidFill>
                <a:srgbClr val="DEC0F1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-3683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EC0F1"/>
              </a:buClr>
              <a:buSzPts val="2200"/>
              <a:buFont typeface="Nunito Sans"/>
              <a:buChar char="○"/>
            </a:pPr>
            <a:r>
              <a:rPr lang="en-US" sz="2200">
                <a:solidFill>
                  <a:srgbClr val="DEC0F1"/>
                </a:solidFill>
                <a:latin typeface="Nunito Sans"/>
                <a:ea typeface="Nunito Sans"/>
                <a:cs typeface="Nunito Sans"/>
                <a:sym typeface="Nunito Sans"/>
              </a:rPr>
              <a:t>IBM Quantum Experience</a:t>
            </a:r>
            <a:endParaRPr sz="2200">
              <a:solidFill>
                <a:srgbClr val="DEC0F1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-3683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EC0F1"/>
              </a:buClr>
              <a:buSzPts val="2200"/>
              <a:buFont typeface="Nunito Sans"/>
              <a:buChar char="○"/>
            </a:pPr>
            <a:r>
              <a:rPr lang="en-US" sz="2200">
                <a:solidFill>
                  <a:srgbClr val="DEC0F1"/>
                </a:solidFill>
                <a:latin typeface="Nunito Sans"/>
                <a:ea typeface="Nunito Sans"/>
                <a:cs typeface="Nunito Sans"/>
                <a:sym typeface="Nunito Sans"/>
              </a:rPr>
              <a:t>Qiskit + Simulatoare</a:t>
            </a:r>
            <a:br>
              <a:rPr lang="en-US" sz="2200">
                <a:solidFill>
                  <a:srgbClr val="DEC0F1"/>
                </a:solidFill>
                <a:latin typeface="Nunito Sans"/>
                <a:ea typeface="Nunito Sans"/>
                <a:cs typeface="Nunito Sans"/>
                <a:sym typeface="Nunito Sans"/>
              </a:rPr>
            </a:br>
            <a:endParaRPr sz="2200">
              <a:solidFill>
                <a:srgbClr val="DEC0F1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EC0F1"/>
              </a:buClr>
              <a:buSzPts val="2200"/>
              <a:buFont typeface="Nunito Sans"/>
              <a:buChar char="●"/>
            </a:pPr>
            <a:r>
              <a:rPr lang="en-US" sz="2200">
                <a:solidFill>
                  <a:srgbClr val="DEC0F1"/>
                </a:solidFill>
                <a:latin typeface="Nunito Sans"/>
                <a:ea typeface="Nunito Sans"/>
                <a:cs typeface="Nunito Sans"/>
                <a:sym typeface="Nunito Sans"/>
              </a:rPr>
              <a:t>Acest lucru transformă teoria în practică – chiar și studenții pot experimenta cu algoritmul!</a:t>
            </a:r>
            <a:endParaRPr sz="2200">
              <a:solidFill>
                <a:srgbClr val="DEC0F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587" name="Google Shape;587;g348782a9c86_0_40"/>
          <p:cNvSpPr txBox="1"/>
          <p:nvPr/>
        </p:nvSpPr>
        <p:spPr>
          <a:xfrm>
            <a:off x="617300" y="7662375"/>
            <a:ext cx="13409100" cy="18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DEC0F1"/>
                </a:solidFill>
                <a:latin typeface="Nunito Sans"/>
                <a:ea typeface="Nunito Sans"/>
                <a:cs typeface="Nunito Sans"/>
                <a:sym typeface="Nunito Sans"/>
              </a:rPr>
              <a:t>✅ 3. Aplicații promițătoare în domenii cheie:</a:t>
            </a:r>
            <a:endParaRPr sz="2200">
              <a:solidFill>
                <a:srgbClr val="DEC0F1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DEC0F1"/>
              </a:buClr>
              <a:buSzPts val="2200"/>
              <a:buFont typeface="Nunito Sans"/>
              <a:buChar char="●"/>
            </a:pPr>
            <a:r>
              <a:rPr lang="en-US" sz="2200">
                <a:solidFill>
                  <a:srgbClr val="DEC0F1"/>
                </a:solidFill>
                <a:latin typeface="Nunito Sans"/>
                <a:ea typeface="Nunito Sans"/>
                <a:cs typeface="Nunito Sans"/>
                <a:sym typeface="Nunito Sans"/>
              </a:rPr>
              <a:t>🔐 Criptografie – Amenințare reală pentru criptarea simetrică (AES).</a:t>
            </a:r>
            <a:endParaRPr sz="2200">
              <a:solidFill>
                <a:srgbClr val="DEC0F1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EC0F1"/>
              </a:buClr>
              <a:buSzPts val="2200"/>
              <a:buFont typeface="Nunito Sans"/>
              <a:buChar char="●"/>
            </a:pPr>
            <a:r>
              <a:rPr lang="en-US" sz="2200">
                <a:solidFill>
                  <a:srgbClr val="DEC0F1"/>
                </a:solidFill>
                <a:latin typeface="Nunito Sans"/>
                <a:ea typeface="Nunito Sans"/>
                <a:cs typeface="Nunito Sans"/>
                <a:sym typeface="Nunito Sans"/>
              </a:rPr>
              <a:t>🔄 Optimizare – Accelerarea găsirii celei mai bune soluții.</a:t>
            </a:r>
            <a:endParaRPr sz="2200">
              <a:solidFill>
                <a:srgbClr val="DEC0F1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EC0F1"/>
              </a:buClr>
              <a:buSzPts val="2200"/>
              <a:buFont typeface="Nunito Sans"/>
              <a:buChar char="●"/>
            </a:pPr>
            <a:r>
              <a:rPr lang="en-US" sz="2200">
                <a:solidFill>
                  <a:srgbClr val="DEC0F1"/>
                </a:solidFill>
                <a:latin typeface="Nunito Sans"/>
                <a:ea typeface="Nunito Sans"/>
                <a:cs typeface="Nunito Sans"/>
                <a:sym typeface="Nunito Sans"/>
              </a:rPr>
              <a:t>🤖 AI/ML – Căutare în seturi mari, ajustare hiperparametri, QML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